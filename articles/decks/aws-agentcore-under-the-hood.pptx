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847088"/>
            <a:ext cx="1554480" cy="91440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03120"/>
            <a:ext cx="1051560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How AWS Bedrock AgentCore</a:t>
            </a:r>
          </a:p>
          <a:p>
            <a:pPr algn="l">
              <a:lnSpc>
                <a:spcPct val="102000"/>
              </a:lnSpc>
              <a:defRPr sz="4400" b="1" i="0">
                <a:solidFill>
                  <a:srgbClr val="FFFFFF"/>
                </a:solidFill>
                <a:latin typeface="Helvetica Neue"/>
              </a:defRPr>
            </a:pPr>
            <a:r>
              <a:t>Actually Works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5156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2100" b="1" i="0">
                <a:solidFill>
                  <a:srgbClr val="93C5FD"/>
                </a:solidFill>
                <a:latin typeface="Helvetica Neue"/>
              </a:defRPr>
            </a:pPr>
            <a:r>
              <a:t>One JSON File In, Four CloudFormation Resources Out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07492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94A3B8"/>
                </a:solidFill>
                <a:latin typeface="Helvetica Neue"/>
              </a:defRPr>
            </a:pPr>
            <a:r>
              <a:t>AgentCore in Action · measured on a real deployment in us-east-1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5623560"/>
            <a:ext cx="10515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94A3B8"/>
                </a:solidFill>
                <a:latin typeface="Helvetica Neue"/>
              </a:defRPr>
            </a:pPr>
            <a:r>
              <a:t>xiongpin.dev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95097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walkthrough, three acts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7C3AED"/>
                </a:solidFill>
                <a:latin typeface="Helvetica Neue"/>
              </a:defRPr>
            </a:pPr>
            <a:r>
              <a:t>ACT I · KNOW 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What AgentCore is, and the three layers you 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What it is / what it is not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Three layers, one direction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4340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EA580C"/>
                </a:solidFill>
                <a:latin typeface="Helvetica Neue"/>
              </a:defRPr>
            </a:pPr>
            <a:r>
              <a:t>ACT II · RUN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Environment, then five hands-on steps with real output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Environment checklist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Step 1-5: scaffold, contract, deploy, local, invoke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38160" y="2057400"/>
            <a:ext cx="3520440" cy="39319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138160" y="2057400"/>
            <a:ext cx="82296" cy="39319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58200" y="2377440"/>
            <a:ext cx="292608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59669"/>
                </a:solidFill>
                <a:latin typeface="Helvetica Neue"/>
              </a:defRPr>
            </a:pPr>
            <a:r>
              <a:t>ACT III · SEE THROUGH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834640"/>
            <a:ext cx="29260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The mechanisms behind the steps, and what broke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3794760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HTTP contract, trace anatomy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398264"/>
            <a:ext cx="2971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· Four failures, four takeaways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HOOK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usual story ends with a Dockerfile and a prayer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475569"/>
                </a:solidFill>
                <a:latin typeface="Helvetica Neue"/>
              </a:defRPr>
            </a:pPr>
            <a:r>
              <a:t>The usual story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743200"/>
            <a:ext cx="4663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Write a Dockerfile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Pick an instance size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Hand-roll an IAM role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475569"/>
                </a:solidFill>
                <a:latin typeface="Helvetica Neue"/>
              </a:defRPr>
            </a:pPr>
            <a:r>
              <a:t>Hope the YAML is right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2103120"/>
            <a:ext cx="5349240" cy="3749039"/>
          </a:xfrm>
          <a:prstGeom prst="roundRect">
            <a:avLst>
              <a:gd name="adj" fmla="val 6000"/>
            </a:avLst>
          </a:prstGeom>
          <a:solidFill>
            <a:srgbClr val="D1FAE5"/>
          </a:solidFill>
          <a:ln w="127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09360" y="210312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675120" y="2423160"/>
            <a:ext cx="4572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047857"/>
                </a:solidFill>
                <a:latin typeface="Helvetica Neue"/>
              </a:defRPr>
            </a:pPr>
            <a:r>
              <a:t>AgentCore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75120" y="2743200"/>
            <a:ext cx="4663440" cy="2926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JSON file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One command</a:t>
            </a: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50000"/>
              </a:lnSpc>
              <a:defRPr sz="1700" b="0" i="0">
                <a:solidFill>
                  <a:srgbClr val="0F172A"/>
                </a:solidFill>
                <a:latin typeface="Helvetica Neue"/>
              </a:defRPr>
            </a:pPr>
            <a:r>
              <a:t>A running, observable endpoint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035040"/>
            <a:ext cx="110916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1">
                <a:solidFill>
                  <a:srgbClr val="64748B"/>
                </a:solidFill>
                <a:latin typeface="Helvetica Neue"/>
              </a:defRPr>
            </a:pPr>
            <a:r>
              <a:t>Everything between them is this article.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Know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What AgentCore is (and is not)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 family of managed runtimes, 14 capabilities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Three layers, one direction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you write code + JSON; the CLI generates the rest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IT 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 family of managed runtimes, not a new framework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609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Not a framework · not container orchestration · not a model router. Serverless microVM per session.</a:t>
            </a:r>
          </a:p>
        </p:txBody>
      </p:sp>
      <p:pic>
        <p:nvPicPr>
          <p:cNvPr id="6" name="Picture 5" descr="F1-capability-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1528" y="2103120"/>
            <a:ext cx="6035040" cy="4295775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266444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STRUCTURE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You write code and JSON. The CLI generates the rest.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2-three-lay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44368" y="1965960"/>
            <a:ext cx="6309360" cy="4604956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Run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Environment checklist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versions, permissions, one shadowing trap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agentcore create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one command, six steps, four resources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35040" y="5431536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9359" y="5541264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Step 4-5 · Run local, invoke cloud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59" y="587044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same routes, same contract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476756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ENVIRONMENT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Before step 1: align the toolchain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57400"/>
            <a:ext cx="557784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28600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0D9488"/>
                </a:solidFill>
                <a:latin typeface="Helvetica Neue"/>
              </a:defRPr>
            </a:pPr>
            <a:r>
              <a:t>Versions (verified 2026-10-14)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4320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Node.js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74320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22.x (CLI needs 20+)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127248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AgentCore CLI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12724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0.31.1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351129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AWS CLI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34640" y="351129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2.x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895344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uv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895344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0.11.9 (template agents)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279392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Git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4279392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2.39 (create runs git init)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663440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Python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34640" y="4663440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3.11 local, CodeZip allows 3.10-3.14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047488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Region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5047488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us-east-1 (whole series)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5431536"/>
            <a:ext cx="1920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1" i="0">
                <a:solidFill>
                  <a:srgbClr val="0F172A"/>
                </a:solidFill>
                <a:latin typeface="Helvetica Neue"/>
              </a:defRPr>
            </a:pPr>
            <a:r>
              <a:t>Docker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834640" y="5431536"/>
            <a:ext cx="3200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not needed - CodeZip builds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0" y="2057400"/>
            <a:ext cx="5257800" cy="3794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400800" y="2057400"/>
            <a:ext cx="82296" cy="379476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20840" y="2286000"/>
            <a:ext cx="4572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2563EB"/>
                </a:solidFill>
                <a:latin typeface="Helvetica Neue"/>
              </a:defRPr>
            </a:pPr>
            <a:r>
              <a:t>Two identities, two permission sets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20840" y="2834640"/>
            <a:ext cx="4663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You (deployer): create CFN stacks, upload to the bootstrap bucket, manage AgentCore resources.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886200"/>
            <a:ext cx="46634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The runtime (generated role): bedrock:InvokeModel* + logs:* + xray:PutTraceSegments. A least-privilege template for free.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20840" y="5212080"/>
            <a:ext cx="4617720" cy="502920"/>
          </a:xfrm>
          <a:prstGeom prst="roundRect">
            <a:avLst>
              <a:gd name="adj" fmla="val 30000"/>
            </a:avLst>
          </a:prstGeom>
          <a:solidFill>
            <a:srgbClr val="FFE4E6"/>
          </a:solidFill>
          <a:ln w="12700">
            <a:solidFill>
              <a:srgbClr val="E11D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03720" y="5285232"/>
            <a:ext cx="4389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1" i="0">
                <a:solidFill>
                  <a:srgbClr val="BE123C"/>
                </a:solidFill>
                <a:latin typeface="Helvetica Neue"/>
              </a:defRPr>
            </a:pPr>
            <a:r>
              <a:t>Trap: old Python CLI shadows npm one - pip uninstall it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1 ·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agentcore create builds the skeleton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1D4ED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pic>
        <p:nvPicPr>
          <p:cNvPr id="6" name="Picture 5" descr="F3-directory-anato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94760" y="1874519"/>
            <a:ext cx="5120640" cy="43703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1874519"/>
            <a:ext cx="3108960" cy="3886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create writes three things: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the project root, the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agentcore/ tree, and a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starter agent in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app/&lt;AgentName&gt;/.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codeLocation points there.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That folder is what gets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zipped, deployed and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dev-started.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528316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2 · THE CONTRACT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JSON files you own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6D28D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630936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agentcore.json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"name": "aiauc01",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"managedBy": "CDK",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"runtimes": [{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"build": "CodeZip",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"entrypoint": "main.py",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"codeLocation": "app/aia_uc01/",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"runtimeVersion": "PYTHON_3_13",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"protocol": "HTTP",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"envVars": [{ "name": "MODEL_ID",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    "value": "deepseek.v3.2"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  }]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}</a:t>
            </a:r>
          </a:p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$ agentcore validate   # -&gt; Valid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011680"/>
            <a:ext cx="4526280" cy="1600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0" y="2011680"/>
            <a:ext cx="82296" cy="160020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52360" y="2194560"/>
            <a:ext cx="39319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7C3AED"/>
                </a:solidFill>
                <a:latin typeface="Helvetica Neue"/>
              </a:defRPr>
            </a:pPr>
            <a:r>
              <a:t>aws-targets.json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52360" y="2606040"/>
            <a:ext cx="3931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[{ "name": "default", "account": "...",</a:t>
            </a:r>
          </a:p>
          <a:p>
            <a:pPr algn="l">
              <a:lnSpc>
                <a:spcPct val="110000"/>
              </a:lnSpc>
              <a:defRPr sz="1250" b="0" i="0">
                <a:solidFill>
                  <a:srgbClr val="475569"/>
                </a:solidFill>
                <a:latin typeface="Menlo"/>
              </a:defRPr>
            </a:pPr>
            <a:r>
              <a:t>  "region": "us-east-1" }]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0" y="3840480"/>
            <a:ext cx="4526280" cy="1920240"/>
          </a:xfrm>
          <a:prstGeom prst="roundRect">
            <a:avLst>
              <a:gd name="adj" fmla="val 8000"/>
            </a:avLst>
          </a:prstGeom>
          <a:solidFill>
            <a:srgbClr val="FFEDD5"/>
          </a:solidFill>
          <a:ln w="12700">
            <a:solidFill>
              <a:srgbClr val="EA580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52360" y="4023360"/>
            <a:ext cx="3977639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create writes an empty array.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first deploy calls STS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and fills account + region in.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No --region flag exists.</a:t>
            </a:r>
          </a:p>
          <a:p>
            <a:pPr algn="l">
              <a:lnSpc>
                <a:spcPct val="112000"/>
              </a:lnSpc>
              <a:defRPr sz="1350" b="0" i="0">
                <a:solidFill>
                  <a:srgbClr val="0F172A"/>
                </a:solidFill>
                <a:latin typeface="Helvetica Neue"/>
              </a:defRPr>
            </a:pPr>
            <a:r>
              <a:t>The file is the only truth.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command, six steps, four cloud resources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EA580C"/>
              </a:gs>
              <a:gs pos="100000">
                <a:srgbClr val="EA580C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pic>
        <p:nvPicPr>
          <p:cNvPr id="6" name="Picture 5" descr="F4-deploy-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2928" y="1920240"/>
            <a:ext cx="6492240" cy="3859276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3 · DEPLOY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What success looks like (cold account)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A580C"/>
              </a:gs>
              <a:gs pos="100000">
                <a:srgbClr val="F3A379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9669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11109960" cy="37947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600">
                <a:solidFill>
                  <a:srgbClr val="34D399"/>
                </a:solidFill>
                <a:latin typeface="Menlo"/>
              </a:defRPr>
            </a:pPr>
            <a:r>
              <a:t>$ agentcore deploy -y --target default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Load deployment target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Validate project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Sync CDK dependencies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Build CDK project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Synthesize CloudFormation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Deploy to AWS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  <a:r>
              <a:t>✓ Deployed to 'default' (stack: AgentCore-aiauc01-default)</a:t>
            </a:r>
          </a:p>
          <a:p>
            <a:pPr algn="l">
              <a:lnSpc>
                <a:spcPct val="112000"/>
              </a:lnSpc>
              <a:defRPr sz="1600">
                <a:solidFill>
                  <a:srgbClr val="93C5FD"/>
                </a:solidFill>
                <a:latin typeface="Menlo"/>
              </a:defRPr>
            </a:pPr>
            <a:r>
              <a:t>  Runtime ARN: arn:aws:bedrock-agentcore:us-east-1:123456789012:</a:t>
            </a:r>
          </a:p>
          <a:p>
            <a:pPr algn="l">
              <a:lnSpc>
                <a:spcPct val="112000"/>
              </a:lnSpc>
              <a:defRPr sz="1600">
                <a:solidFill>
                  <a:srgbClr val="93C5FD"/>
                </a:solidFill>
                <a:latin typeface="Menlo"/>
              </a:defRPr>
            </a:pPr>
            <a:r>
              <a:t>               runtime/aiauc01_aia_uc01-LH8zQV86C2</a:t>
            </a:r>
          </a:p>
          <a:p>
            <a:pPr algn="l">
              <a:lnSpc>
                <a:spcPct val="112000"/>
              </a:lnSpc>
              <a:defRPr sz="16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600">
                <a:solidFill>
                  <a:srgbClr val="94A3B8"/>
                </a:solidFill>
                <a:latin typeface="Menlo"/>
              </a:defRPr>
            </a:pPr>
            <a:r>
              <a:t># cold: 9 min 49 s   ·   code-only redeploy: 26 s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58191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SCHEMA-FIRST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cdk/ is a compiler. agentcore.json is the program.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7040880" cy="27432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// agentcore/cdk/bin/cdk.ts (generated)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configRoot = path.resolve(process.cwd(), '..');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configIO = new ConfigIO({ baseDir: configRoot });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spec    = await configIO.readProjectSpec();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const targets = await configIO.readAWSDeploymentTargets();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029200"/>
            <a:ext cx="7040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Zero hard-coded names in the generated project (grepped).</a:t>
            </a:r>
          </a:p>
          <a:p>
            <a:pPr algn="l">
              <a:lnSpc>
                <a:spcPct val="115000"/>
              </a:lnSpc>
              <a:defRPr sz="1400" b="0" i="0">
                <a:solidFill>
                  <a:srgbClr val="475569"/>
                </a:solidFill>
                <a:latin typeface="Helvetica Neue"/>
              </a:defRPr>
            </a:pPr>
            <a:r>
              <a:t>Stack name = AgentCore-&lt;projectName&gt;-&lt;targetName&gt;, both from the JSON.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79" y="2011680"/>
            <a:ext cx="3703320" cy="3749039"/>
          </a:xfrm>
          <a:prstGeom prst="roundRect">
            <a:avLst>
              <a:gd name="adj" fmla="val 7000"/>
            </a:avLst>
          </a:prstGeom>
          <a:solidFill>
            <a:srgbClr val="EDE9FE"/>
          </a:solidFill>
          <a:ln w="12700">
            <a:solidFill>
              <a:srgbClr val="7C3AE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955279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75320" y="2011680"/>
            <a:ext cx="3108960" cy="3749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Same TypeScript,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different JSON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→ different stack.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Change the schema,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not the plumbing.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That is what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schema-first means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0F172A"/>
                </a:solidFill>
                <a:latin typeface="Helvetica Neue"/>
              </a:defRPr>
            </a:pPr>
            <a:r>
              <a:t>in practice.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738628" cy="310896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4 · RUN IT LOCALLY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Same app, same routes, no deployment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D9488"/>
              </a:gs>
              <a:gs pos="100000">
                <a:srgbClr val="79C4B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F766E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011680"/>
            <a:ext cx="6035040" cy="219456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400">
                <a:solidFill>
                  <a:srgbClr val="34D399"/>
                </a:solidFill>
                <a:latin typeface="Menlo"/>
              </a:defRPr>
            </a:pPr>
            <a:r>
              <a:t>$ agentcore dev -l</a:t>
            </a:r>
          </a:p>
          <a:p>
            <a:pPr algn="l">
              <a:lnSpc>
                <a:spcPct val="112000"/>
              </a:lnSpc>
              <a:defRPr sz="1400">
                <a:solidFill>
                  <a:srgbClr val="E2E8F0"/>
                </a:solidFill>
                <a:latin typeface="Menlo"/>
              </a:defRPr>
            </a:pPr>
            <a:r>
              <a:t>Server: http://localhost:8080/invocations</a:t>
            </a:r>
          </a:p>
          <a:p>
            <a:pPr algn="l">
              <a:lnSpc>
                <a:spcPct val="112000"/>
              </a:lnSpc>
              <a:defRPr sz="1400">
                <a:solidFill>
                  <a:srgbClr val="94A3B8"/>
                </a:solidFill>
                <a:latin typeface="Menlo"/>
              </a:defRPr>
            </a:pPr>
            <a:r>
              <a:t>(GET /ping + POST /invocations - same two routes)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434840"/>
            <a:ext cx="6035040" cy="137160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300">
                <a:solidFill>
                  <a:srgbClr val="34D399"/>
                </a:solidFill>
                <a:latin typeface="Menlo"/>
              </a:defRPr>
            </a:pPr>
            <a:r>
              <a:t>$ curl -s -X POST localhost:8080/invocations \</a:t>
            </a:r>
          </a:p>
          <a:p>
            <a:pPr algn="l">
              <a:lnSpc>
                <a:spcPct val="112000"/>
              </a:lnSpc>
              <a:defRPr sz="1300">
                <a:solidFill>
                  <a:srgbClr val="E2E8F0"/>
                </a:solidFill>
                <a:latin typeface="Menlo"/>
              </a:defRPr>
            </a:pPr>
            <a:r>
              <a:t>   -d '{"prompt":"What is 128 plus 256?"}'</a:t>
            </a:r>
          </a:p>
          <a:p>
            <a:pPr algn="l">
              <a:lnSpc>
                <a:spcPct val="112000"/>
              </a:lnSpc>
              <a:defRPr sz="1300">
                <a:solidFill>
                  <a:srgbClr val="93C5FD"/>
                </a:solidFill>
                <a:latin typeface="Menlo"/>
              </a:defRPr>
            </a:pPr>
            <a:r>
              <a:t>→ SSE stream, toolUse add_numbers, answer 384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0" y="2011680"/>
            <a:ext cx="4663440" cy="37947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Uvicorn + hot reload.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Model calls still go to Bedrock: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credentials needed, deployment not.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Flags worth knowing: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-p port, -b TUI, --skip-deploy.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Edit main.py while it runs: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the reloader picks it up</a:t>
            </a:r>
          </a:p>
          <a:p>
            <a:pPr algn="l">
              <a:lnSpc>
                <a:spcPct val="120000"/>
              </a:lnSpc>
              <a:defRPr sz="1500" b="0" i="0">
                <a:solidFill>
                  <a:srgbClr val="475569"/>
                </a:solidFill>
                <a:latin typeface="Helvetica Neue"/>
              </a:defRPr>
            </a:pPr>
            <a:r>
              <a:t>without a restart.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89738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STEP 5 · INVOKE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deployed runtime answers through the data plane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835640" y="502920"/>
            <a:ext cx="685800" cy="685800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47857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700" b="1">
                <a:solidFill>
                  <a:srgbClr val="FFFFFF"/>
                </a:solidFill>
                <a:latin typeface="Helvetica Neue"/>
              </a:defRPr>
            </a:pPr>
            <a:r>
              <a:t>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366760" y="1481328"/>
            <a:ext cx="1417320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▶ LIVE DEMO</a:t>
            </a:r>
          </a:p>
        </p:txBody>
      </p:sp>
      <p:pic>
        <p:nvPicPr>
          <p:cNvPr id="7" name="Picture 6" descr="F5-one-surf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01568" y="1874519"/>
            <a:ext cx="5394960" cy="3937572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94360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00" b="0" i="0">
                <a:solidFill>
                  <a:srgbClr val="64748B"/>
                </a:solidFill>
                <a:latin typeface="Helvetica Neue"/>
              </a:defRPr>
            </a:pPr>
            <a:r>
              <a:t>agentcore invoke = a CLI client for the hosted /invocations endpoint, not a third interface.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740664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COST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One invoke costs about $0.0009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59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2563EB"/>
                </a:solidFill>
                <a:latin typeface="Helvetica Neue"/>
              </a:defRPr>
            </a:pPr>
            <a:r>
              <a:t>$0.0007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model tokens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846 in + 82 out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deepseek.v3.2 @$0.62/$1.85 per 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1772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D9488"/>
                </a:solidFill>
                <a:latin typeface="Helvetica Neue"/>
              </a:defRPr>
            </a:pPr>
            <a:r>
              <a:t>$0.0002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1772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runtime compute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≈ 7 s active compute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idle sessions are free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2103120"/>
            <a:ext cx="3520440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38160" y="2103120"/>
            <a:ext cx="82296" cy="3200400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0" y="2468880"/>
            <a:ext cx="29718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EA580C"/>
                </a:solidFill>
                <a:latin typeface="Helvetica Neue"/>
              </a:defRPr>
            </a:pPr>
            <a:r>
              <a:t>9m49s / 26s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3383280"/>
            <a:ext cx="2971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400" b="1" i="0">
                <a:solidFill>
                  <a:srgbClr val="0F172A"/>
                </a:solidFill>
                <a:latin typeface="Helvetica Neue"/>
              </a:defRPr>
            </a:pPr>
            <a:r>
              <a:t>first deploy / redeploy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3840480"/>
            <a:ext cx="29718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cold = npm install dominates</a:t>
            </a:r>
          </a:p>
          <a:p>
            <a:pPr algn="l">
              <a:lnSpc>
                <a:spcPct val="115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warm = asset hash only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62356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500" b="1" i="0">
                <a:solidFill>
                  <a:srgbClr val="0F172A"/>
                </a:solidFill>
                <a:latin typeface="Helvetica Neue"/>
              </a:defRPr>
            </a:pPr>
            <a:r>
              <a:t>The infrastructure bill rounds to zero. The engineering cost is reading the trace.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457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95000"/>
              </a:lnSpc>
              <a:defRPr sz="5400" b="1" i="0">
                <a:solidFill>
                  <a:srgbClr val="FFFFFF"/>
                </a:solidFill>
                <a:latin typeface="Helvetica Neue"/>
              </a:defRPr>
            </a:pPr>
            <a:r>
              <a:t>ACT III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3246120"/>
            <a:ext cx="1188720" cy="82296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49377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200" b="1" i="0">
                <a:solidFill>
                  <a:srgbClr val="FFFFFF"/>
                </a:solidFill>
                <a:latin typeface="Helvetica Neue"/>
              </a:defRPr>
            </a:pPr>
            <a:r>
              <a:t>See through 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035040" y="1554480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09359" y="1664207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HTTP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59" y="1993391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two requests, an async generator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035040" y="2523744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09359" y="2633472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The trace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59" y="296265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what observability records, and when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35040" y="3493008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59" y="3602736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Four failures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59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and what each one taught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462272"/>
            <a:ext cx="5303520" cy="804672"/>
          </a:xfrm>
          <a:prstGeom prst="roundRect">
            <a:avLst>
              <a:gd name="adj" fmla="val 14000"/>
            </a:avLst>
          </a:prstGeom>
          <a:solidFill>
            <a:srgbClr val="1B2A4A"/>
          </a:solidFill>
          <a:ln w="12700">
            <a:solidFill>
              <a:srgbClr val="2A3E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59" y="4572000"/>
            <a:ext cx="4754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500" b="1" i="0">
                <a:solidFill>
                  <a:srgbClr val="FFFFFF"/>
                </a:solidFill>
                <a:latin typeface="Helvetica Neue"/>
              </a:defRPr>
            </a:pPr>
            <a:r>
              <a:t>Takeaways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59" y="4901183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150" b="0" i="0">
                <a:solidFill>
                  <a:srgbClr val="93C5FD"/>
                </a:solidFill>
                <a:latin typeface="Helvetica Neue"/>
              </a:defRPr>
            </a:pPr>
            <a:r>
              <a:t>four sentences to keep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002536" cy="31089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Two requests. That is the whole platform contract.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87A9F4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6858000" cy="3749039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28600" tIns="164592"/>
          <a:lstStyle/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@app.entrypoint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async def invoke(payload, context):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session_id = getattr(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context, "session_id", "default-session")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agent = get_or_create_agent(session_id)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async for event in agent.stream_async(prompt):</a:t>
            </a:r>
          </a:p>
          <a:p>
            <a:pPr algn="l">
              <a:lnSpc>
                <a:spcPct val="112000"/>
              </a:lnSpc>
              <a:defRPr sz="1500">
                <a:solidFill>
                  <a:srgbClr val="E2E8F0"/>
                </a:solidFill>
                <a:latin typeface="Menlo"/>
              </a:defRPr>
            </a:pPr>
            <a:r>
              <a:t>        yield event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0" y="2011680"/>
            <a:ext cx="3886200" cy="3749039"/>
          </a:xfrm>
          <a:prstGeom prst="roundRect">
            <a:avLst>
              <a:gd name="adj" fmla="val 7000"/>
            </a:avLst>
          </a:prstGeom>
          <a:solidFill>
            <a:srgbClr val="DBEAFE"/>
          </a:solidFill>
          <a:ln w="12700">
            <a:solidFill>
              <a:srgbClr val="2563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772400" y="2011680"/>
            <a:ext cx="82296" cy="374903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92440" y="2011680"/>
            <a:ext cx="3291840" cy="374903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GET  /ping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POST /invocations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yield → one SSE event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session_id = your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state key. The platform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handles the microVMs.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MODEL_ID = an env var</a:t>
            </a:r>
          </a:p>
          <a:p>
            <a:pPr algn="l">
              <a:lnSpc>
                <a:spcPct val="118000"/>
              </a:lnSpc>
              <a:defRPr sz="1450" b="0" i="0">
                <a:solidFill>
                  <a:srgbClr val="0F172A"/>
                </a:solidFill>
                <a:latin typeface="Helvetica Neue"/>
              </a:defRPr>
            </a:pPr>
            <a:r>
              <a:t>from agentcore.json.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2107692" cy="310896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UNDER THE HOOD II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The trace teaches the agent loop without reading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059669"/>
              </a:gs>
              <a:gs pos="100000">
                <a:srgbClr val="75C5A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6-span-tr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2968" y="1783080"/>
            <a:ext cx="5852160" cy="40477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59436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defRPr sz="1350" b="1" i="0">
                <a:solidFill>
                  <a:srgbClr val="BE123C"/>
                </a:solidFill>
                <a:latin typeface="Helvetica Neue"/>
              </a:defRPr>
            </a:pPr>
            <a:r>
              <a:t>Caveats: spans need ~10 min to query · local dev records no tool span - assert against the deployment.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371600" cy="310896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WHAT BROKE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failures worth passing 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E11D48"/>
              </a:gs>
              <a:gs pos="100000">
                <a:srgbClr val="EE829A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11D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Stale cdk.out fails the next deploy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CLI deletes it before synth; leftover state kills synth. rm -rf agentcore/cdk/cdk.out fixes 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72200" y="201168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172200" y="201168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EA58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Renaming is destroying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78892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name → CloudFormation logical ID. Rename = delete old runtime + create new.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4864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Models leak scaffolding into 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DSML markers, &lt;thinking&gt; blocks. Verified with Strands removed. Stream-safe filter at the entrypoint.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72200" y="4114800"/>
            <a:ext cx="5440680" cy="1874519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2700">
            <a:solidFill>
              <a:srgbClr val="CBD5E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172200" y="4114800"/>
            <a:ext cx="82296" cy="1874519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92240" y="4297680"/>
            <a:ext cx="48463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650" b="1" i="0">
                <a:solidFill>
                  <a:srgbClr val="0F172A"/>
                </a:solidFill>
                <a:latin typeface="Helvetica Neue"/>
              </a:defRPr>
            </a:pPr>
            <a:r>
              <a:t>Region is not a flag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892040"/>
            <a:ext cx="48920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defRPr sz="1350" b="0" i="0">
                <a:solidFill>
                  <a:srgbClr val="475569"/>
                </a:solidFill>
                <a:latin typeface="Helvetica Neue"/>
              </a:defRPr>
            </a:pPr>
            <a:r>
              <a:t>--region → unknown option. The targets file decides; it fills itself in on first deploy.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548640" y="384048"/>
            <a:ext cx="1056132" cy="31089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defRPr sz="1100" b="1">
                <a:solidFill>
                  <a:srgbClr val="FFFFFF"/>
                </a:solidFill>
                <a:latin typeface="Helvetica Neue"/>
              </a:defRPr>
            </a:pPr>
            <a: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786384"/>
            <a:ext cx="1106424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3000" b="1" i="0">
                <a:solidFill>
                  <a:srgbClr val="0F172A"/>
                </a:solidFill>
                <a:latin typeface="Helvetica Neue"/>
              </a:defRPr>
            </a:pPr>
            <a:r>
              <a:t>Four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481328"/>
            <a:ext cx="1371600" cy="68580"/>
          </a:xfrm>
          <a:prstGeom prst="rect">
            <a:avLst/>
          </a:prstGeom>
          <a:gradFill rotWithShape="1">
            <a:gsLst>
              <a:gs pos="0">
                <a:srgbClr val="7C3AED"/>
              </a:gs>
              <a:gs pos="100000">
                <a:srgbClr val="B692F5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965960"/>
            <a:ext cx="566928" cy="566928"/>
          </a:xfrm>
          <a:prstGeom prst="ellipse">
            <a:avLst/>
          </a:prstGeom>
          <a:gradFill rotWithShape="1">
            <a:gsLst>
              <a:gs pos="0">
                <a:srgbClr val="7C3AED"/>
              </a:gs>
              <a:gs pos="100000">
                <a:srgbClr val="7C3AED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08760" y="1947672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The JSON file is the interface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2368296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everything else is regenerable plumbing driven by it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2898648"/>
            <a:ext cx="566928" cy="566928"/>
          </a:xfrm>
          <a:prstGeom prst="ellipse">
            <a:avLst/>
          </a:prstGeom>
          <a:gradFill rotWithShape="1">
            <a:gsLst>
              <a:gs pos="0">
                <a:srgbClr val="2563EB"/>
              </a:gs>
              <a:gs pos="100000">
                <a:srgbClr val="2563EB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2880360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CDK appears as a vendored compiler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3300984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you never write constructs; same code, different JSON, different stack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3831335"/>
            <a:ext cx="566928" cy="566928"/>
          </a:xfrm>
          <a:prstGeom prst="ellipse">
            <a:avLst/>
          </a:prstGeom>
          <a:gradFill rotWithShape="1">
            <a:gsLst>
              <a:gs pos="0">
                <a:srgbClr val="0D9488"/>
              </a:gs>
              <a:gs pos="100000">
                <a:srgbClr val="0D9488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08760" y="3813048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Local and deployed share one HTTP contract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4233672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code that passed locally deploys without a shim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764023"/>
            <a:ext cx="566928" cy="566928"/>
          </a:xfrm>
          <a:prstGeom prst="ellipse">
            <a:avLst/>
          </a:prstGeom>
          <a:gradFill rotWithShape="1">
            <a:gsLst>
              <a:gs pos="0">
                <a:srgbClr val="059669"/>
              </a:gs>
              <a:gs pos="100000">
                <a:srgbClr val="059669"/>
              </a:gs>
            </a:gsLst>
            <a:lin scaled="0" ang="162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FFFFFF"/>
                </a:solidFill>
                <a:latin typeface="Helvetica Neue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4745736"/>
            <a:ext cx="100584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900" b="1" i="0">
                <a:solidFill>
                  <a:srgbClr val="0F172A"/>
                </a:solidFill>
                <a:latin typeface="Helvetica Neue"/>
              </a:defRPr>
            </a:pPr>
            <a:r>
              <a:t>Observability is real but asynchronous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5166359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300" b="0" i="0">
                <a:solidFill>
                  <a:srgbClr val="475569"/>
                </a:solidFill>
                <a:latin typeface="Helvetica Neue"/>
              </a:defRPr>
            </a:pPr>
            <a:r>
              <a:t>the tool call gets its own span; give tests minutes, not seconds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08760" y="5715000"/>
            <a:ext cx="9692640" cy="594360"/>
          </a:xfrm>
          <a:prstGeom prst="roundRect">
            <a:avLst>
              <a:gd name="adj" fmla="val 12000"/>
            </a:avLst>
          </a:prstGeom>
          <a:solidFill>
            <a:srgbClr val="EDE9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508760" y="5715000"/>
            <a:ext cx="9692640" cy="594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defRPr sz="1600" b="1" i="1">
                <a:solidFill>
                  <a:srgbClr val="6D28D9"/>
                </a:solidFill>
                <a:latin typeface="Helvetica Neue"/>
              </a:defRPr>
            </a:pPr>
            <a:r>
              <a:t>Your infrastructure is not code you maintain. It is code that compiles.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6455664"/>
            <a:ext cx="11091672" cy="10972"/>
          </a:xfrm>
          <a:prstGeom prst="rect">
            <a:avLst/>
          </a:prstGeom>
          <a:solidFill>
            <a:srgbClr val="CBD5E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AgentCore in Action · Article 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0000"/>
              </a:lnSpc>
              <a:defRPr sz="1000" b="0" i="0">
                <a:solidFill>
                  <a:srgbClr val="64748B"/>
                </a:solidFill>
                <a:latin typeface="Helvetica Neue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 rotWithShape="1">
          <a:gsLst>
            <a:gs pos="0">
              <a:srgbClr val="0F172A"/>
            </a:gs>
            <a:gs pos="100000">
              <a:srgbClr val="1E3A8A"/>
            </a:gs>
          </a:gsLst>
          <a:lin scaled="0" ang="1470000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gradFill rotWithShape="1">
            <a:gsLst>
              <a:gs pos="0">
                <a:srgbClr val="2563EB"/>
              </a:gs>
              <a:gs pos="100000">
                <a:srgbClr val="7C3AED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48840"/>
            <a:ext cx="1051560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Your infrastructure is not code</a:t>
            </a:r>
          </a:p>
          <a:p>
            <a:pPr algn="l">
              <a:lnSpc>
                <a:spcPct val="105000"/>
              </a:lnSpc>
              <a:defRPr sz="3400" b="1" i="0">
                <a:solidFill>
                  <a:srgbClr val="FFFFFF"/>
                </a:solidFill>
                <a:latin typeface="Helvetica Neue"/>
              </a:defRPr>
            </a:pPr>
            <a:r>
              <a:t>you maintain. It is code that compiles.</a:t>
            </a:r>
          </a:p>
        </p:txBody>
      </p:sp>
      <p:sp>
        <p:nvSpPr>
          <p:cNvPr id="4" name="Rectangle 3"/>
          <p:cNvSpPr/>
          <p:nvPr/>
        </p:nvSpPr>
        <p:spPr>
          <a:xfrm>
            <a:off x="868680" y="4160520"/>
            <a:ext cx="1554480" cy="82296"/>
          </a:xfrm>
          <a:prstGeom prst="rect">
            <a:avLst/>
          </a:prstGeom>
          <a:gradFill rotWithShape="1">
            <a:gsLst>
              <a:gs pos="0">
                <a:srgbClr val="FF9900"/>
              </a:gs>
              <a:gs pos="100000">
                <a:srgbClr val="EA580C"/>
              </a:gs>
            </a:gsLst>
            <a:lin scaled="0" ang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45262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defRPr sz="1700" b="1" i="0">
                <a:solidFill>
                  <a:srgbClr val="93C5FD"/>
                </a:solidFill>
                <a:latin typeface="Helvetica Neue"/>
              </a:defRPr>
            </a:pPr>
            <a:r>
              <a:t>AgentCore in Action · Article 0 · xiongpin.dev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