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000" b="1" i="0">
                <a:solidFill>
                  <a:srgbClr val="1A1A2E"/>
                </a:solidFill>
                <a:latin typeface="Helvetica Neue"/>
              </a:defRPr>
            </a:pPr>
            <a:r>
              <a:t>How AWS Bedrock AgentCore</a:t>
            </a:r>
          </a:p>
          <a:p>
            <a:pPr algn="l">
              <a:defRPr sz="4000" b="1" i="0">
                <a:solidFill>
                  <a:srgbClr val="1A1A2E"/>
                </a:solidFill>
                <a:latin typeface="Helvetica Neue"/>
              </a:defRPr>
            </a:pPr>
            <a:r>
              <a:t>Actually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 i="0">
                <a:solidFill>
                  <a:srgbClr val="2E86DE"/>
                </a:solidFill>
                <a:latin typeface="Helvetica Neue"/>
              </a:defRPr>
            </a:pPr>
            <a:r>
              <a:t>One JSON File In, Four CloudFormation Resources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 i="0">
                <a:solidFill>
                  <a:srgbClr val="555555"/>
                </a:solidFill>
                <a:latin typeface="Helvetica Neue"/>
              </a:defRPr>
            </a:pPr>
            <a:r>
              <a:t>AgentCore Series · Article 0 of 8 · measured on a real deployment in us-east-1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 i="0">
                <a:solidFill>
                  <a:srgbClr val="7F8C8D"/>
                </a:solidFill>
                <a:latin typeface="Helvetica Neue"/>
              </a:defRPr>
            </a:pPr>
            <a:r>
              <a:t>xiongpin.dev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7F8C8D"/>
                </a:solidFill>
                <a:latin typeface="Helvetica Neue"/>
              </a:defRPr>
            </a:pPr>
            <a:r>
              <a:t>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 i="0">
                <a:solidFill>
                  <a:srgbClr val="1A1A2E"/>
                </a:solidFill>
                <a:latin typeface="Helvetica Neue"/>
              </a:defRPr>
            </a:pPr>
            <a:r>
              <a:t>The usual story ends with a Dockerfile and a prayer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 i="0">
                <a:solidFill>
                  <a:srgbClr val="555555"/>
                </a:solidFill>
                <a:latin typeface="Helvetica Neue"/>
              </a:defRPr>
            </a:pPr>
            <a:r>
              <a:t>Dockerfile → instance size → hand-rolled IAM role → hope the YAML is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 i="0">
                <a:solidFill>
                  <a:srgbClr val="1A1A2E"/>
                </a:solidFill>
                <a:latin typeface="Helvetica Neue"/>
              </a:defRPr>
            </a:pPr>
            <a:r>
              <a:t>AgentCore: the whole deployment contract</a:t>
            </a:r>
          </a:p>
          <a:p>
            <a:pPr algn="l">
              <a:defRPr sz="3000" b="1" i="0">
                <a:solidFill>
                  <a:srgbClr val="1A1A2E"/>
                </a:solidFill>
                <a:latin typeface="Helvetica Neue"/>
              </a:defRPr>
            </a:pPr>
            <a:r>
              <a:t>is one JSON file.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 i="0">
                <a:solidFill>
                  <a:srgbClr val="27AE60"/>
                </a:solidFill>
                <a:latin typeface="Helvetica Neue"/>
              </a:defRPr>
            </a:pPr>
            <a:r>
              <a:t>One command turns it into a running, observable endpoint.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 i="0">
                <a:solidFill>
                  <a:srgbClr val="7F8C8D"/>
                </a:solidFill>
                <a:latin typeface="Helvetica Neue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2E86DE"/>
                </a:solidFill>
                <a:latin typeface="Helvetica Neue"/>
              </a:defRPr>
            </a:pPr>
            <a:r>
              <a:t>WHAT IT IS / IS NOT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 i="0">
                <a:solidFill>
                  <a:srgbClr val="1A1A2E"/>
                </a:solidFill>
                <a:latin typeface="Helvetica Neue"/>
              </a:defRPr>
            </a:pPr>
            <a:r>
              <a:t>A family of managed runtimes, not a new framework</a:t>
            </a:r>
          </a:p>
        </p:txBody>
      </p:sp>
      <p:pic>
        <p:nvPicPr>
          <p:cNvPr id="4" name="Picture 3" descr="F1-capability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691640"/>
            <a:ext cx="6035040" cy="46168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6419088"/>
            <a:ext cx="105156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 i="0">
                <a:solidFill>
                  <a:srgbClr val="555555"/>
                </a:solidFill>
                <a:latin typeface="Helvetica Neue"/>
              </a:defRPr>
            </a:pPr>
            <a:r>
              <a:t>Not a framework · not container orchestration · not a model router. Serverless microVM per session.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 i="0">
                <a:solidFill>
                  <a:srgbClr val="7F8C8D"/>
                </a:solidFill>
                <a:latin typeface="Helvetica Neue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8E44AD"/>
                </a:solidFill>
                <a:latin typeface="Helvetica Neue"/>
              </a:defRPr>
            </a:pPr>
            <a:r>
              <a:t>MENTAL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 i="0">
                <a:solidFill>
                  <a:srgbClr val="1A1A2E"/>
                </a:solidFill>
                <a:latin typeface="Helvetica Neue"/>
              </a:defRPr>
            </a:pPr>
            <a:r>
              <a:t>You write code and JSON. The CLI generates the rest.</a:t>
            </a:r>
          </a:p>
        </p:txBody>
      </p:sp>
      <p:pic>
        <p:nvPicPr>
          <p:cNvPr id="4" name="Picture 3" descr="F2-three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1691640"/>
            <a:ext cx="6492240" cy="36310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9284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 i="0">
                <a:solidFill>
                  <a:srgbClr val="7F8C8D"/>
                </a:solidFill>
                <a:latin typeface="Helvetica Neue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2E86DE"/>
                </a:solidFill>
                <a:latin typeface="Helvetica Neue"/>
              </a:defRPr>
            </a:pPr>
            <a:r>
              <a:t>PROJECT ANATOMY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 i="0">
                <a:solidFill>
                  <a:srgbClr val="1A1A2E"/>
                </a:solidFill>
                <a:latin typeface="Helvetica Neue"/>
              </a:defRPr>
            </a:pPr>
            <a:r>
              <a:t>Two colours: what you write vs what is generated</a:t>
            </a:r>
          </a:p>
        </p:txBody>
      </p:sp>
      <p:pic>
        <p:nvPicPr>
          <p:cNvPr id="4" name="Picture 3" descr="F3-directory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645920"/>
            <a:ext cx="5943600" cy="41987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9284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 i="0">
                <a:solidFill>
                  <a:srgbClr val="7F8C8D"/>
                </a:solidFill>
                <a:latin typeface="Helvetica Neue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E74C3C"/>
                </a:solidFill>
                <a:latin typeface="Helvetica Neue"/>
              </a:defRPr>
            </a:pPr>
            <a:r>
              <a:t>PROJECT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 i="0">
                <a:solidFill>
                  <a:srgbClr val="1A1A2E"/>
                </a:solidFill>
                <a:latin typeface="Helvetica Neue"/>
              </a:defRPr>
            </a:pPr>
            <a:r>
              <a:t>A project = directory + agentcore.json, both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920240"/>
            <a:ext cx="9235440" cy="1463040"/>
          </a:xfrm>
          <a:prstGeom prst="rect">
            <a:avLst/>
          </a:prstGeom>
          <a:solidFill>
            <a:srgbClr val="F4F6F7"/>
          </a:solidFill>
        </p:spPr>
        <p:txBody>
          <a:bodyPr wrap="none">
            <a:spAutoFit/>
          </a:bodyPr>
          <a:lstStyle/>
          <a:p>
            <a:pPr>
              <a:lnSpc>
                <a:spcPct val="105000"/>
              </a:lnSpc>
              <a:defRPr sz="1700">
                <a:solidFill>
                  <a:srgbClr val="1A1A2E"/>
                </a:solidFill>
                <a:latin typeface="Menlo"/>
              </a:defRPr>
            </a:pPr>
            <a:r>
              <a:t>walk up from cwd until a folder contains BOTH:</a:t>
            </a:r>
          </a:p>
          <a:p>
            <a:pPr>
              <a:lnSpc>
                <a:spcPct val="105000"/>
              </a:lnSpc>
              <a:defRPr sz="1700">
                <a:solidFill>
                  <a:srgbClr val="1A1A2E"/>
                </a:solidFill>
                <a:latin typeface="Menlo"/>
              </a:defRPr>
            </a:pPr>
            <a:r>
              <a:t>    agentcore/                and    agentcore/agentcore.json</a:t>
            </a:r>
          </a:p>
          <a:p>
            <a:pPr>
              <a:lnSpc>
                <a:spcPct val="105000"/>
              </a:lnSpc>
              <a:defRPr sz="1700">
                <a:solidFill>
                  <a:srgbClr val="1A1A2E"/>
                </a:solidFill>
                <a:latin typeface="Menlo"/>
              </a:defRPr>
            </a:pPr>
            <a:r>
              <a:t>either alone is not a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931920"/>
            <a:ext cx="9235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 i="0">
                <a:solidFill>
                  <a:srgbClr val="555555"/>
                </a:solidFill>
                <a:latin typeface="Helvetica Neue"/>
              </a:defRPr>
            </a:pPr>
            <a:r>
              <a:t>"No agentcore project found" does not tell you which one is missing.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937760"/>
            <a:ext cx="9235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1" i="0">
                <a:solidFill>
                  <a:srgbClr val="E74C3C"/>
                </a:solidFill>
                <a:latin typeface="Helvetica Neue"/>
              </a:defRPr>
            </a:pPr>
            <a:r>
              <a:t>Run from the directory that contains agentcore/, or the CLI refuses.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 i="0">
                <a:solidFill>
                  <a:srgbClr val="7F8C8D"/>
                </a:solidFill>
                <a:latin typeface="Helvetica Neue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8E44AD"/>
                </a:solidFill>
                <a:latin typeface="Helvetica Neue"/>
              </a:defRPr>
            </a:pPr>
            <a:r>
              <a:t>THE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 i="0">
                <a:solidFill>
                  <a:srgbClr val="1A1A2E"/>
                </a:solidFill>
                <a:latin typeface="Helvetica Neue"/>
              </a:defRPr>
            </a:pPr>
            <a:r>
              <a:t>The contract: two JSON files you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852160" cy="3931920"/>
          </a:xfrm>
          <a:prstGeom prst="rect">
            <a:avLst/>
          </a:prstGeom>
          <a:solidFill>
            <a:srgbClr val="F4F6F7"/>
          </a:solidFill>
        </p:spPr>
        <p:txBody>
          <a:bodyPr wrap="none">
            <a:spAutoFit/>
          </a:bodyPr>
          <a:lstStyle/>
          <a:p>
            <a:pPr>
              <a:lnSpc>
                <a:spcPct val="105000"/>
              </a:lnSpc>
              <a:defRPr sz="1500">
                <a:solidFill>
                  <a:srgbClr val="1A1A2E"/>
                </a:solidFill>
                <a:latin typeface="Menlo"/>
              </a:defRPr>
            </a:pPr>
            <a:r>
              <a:t>agentcore.json</a:t>
            </a:r>
          </a:p>
          <a:p>
            <a:pPr>
              <a:lnSpc>
                <a:spcPct val="105000"/>
              </a:lnSpc>
              <a:defRPr sz="1500">
                <a:solidFill>
                  <a:srgbClr val="1A1A2E"/>
                </a:solidFill>
                <a:latin typeface="Menlo"/>
              </a:defRPr>
            </a:pPr>
            <a:r>
              <a:t>{</a:t>
            </a:r>
          </a:p>
          <a:p>
            <a:pPr>
              <a:lnSpc>
                <a:spcPct val="105000"/>
              </a:lnSpc>
              <a:defRPr sz="1500">
                <a:solidFill>
                  <a:srgbClr val="1A1A2E"/>
                </a:solidFill>
                <a:latin typeface="Menlo"/>
              </a:defRPr>
            </a:pPr>
            <a:r>
              <a:t>  "name": "aiauc01",</a:t>
            </a:r>
          </a:p>
          <a:p>
            <a:pPr>
              <a:lnSpc>
                <a:spcPct val="105000"/>
              </a:lnSpc>
              <a:defRPr sz="1500">
                <a:solidFill>
                  <a:srgbClr val="1A1A2E"/>
                </a:solidFill>
                <a:latin typeface="Menlo"/>
              </a:defRPr>
            </a:pPr>
            <a:r>
              <a:t>  "managedBy": "CDK",</a:t>
            </a:r>
          </a:p>
          <a:p>
            <a:pPr>
              <a:lnSpc>
                <a:spcPct val="105000"/>
              </a:lnSpc>
              <a:defRPr sz="1500">
                <a:solidFill>
                  <a:srgbClr val="1A1A2E"/>
                </a:solidFill>
                <a:latin typeface="Menlo"/>
              </a:defRPr>
            </a:pPr>
            <a:r>
              <a:t>  "runtimes": [{</a:t>
            </a:r>
          </a:p>
          <a:p>
            <a:pPr>
              <a:lnSpc>
                <a:spcPct val="105000"/>
              </a:lnSpc>
              <a:defRPr sz="1500">
                <a:solidFill>
                  <a:srgbClr val="1A1A2E"/>
                </a:solidFill>
                <a:latin typeface="Menlo"/>
              </a:defRPr>
            </a:pPr>
            <a:r>
              <a:t>    "build": "CodeZip",</a:t>
            </a:r>
          </a:p>
          <a:p>
            <a:pPr>
              <a:lnSpc>
                <a:spcPct val="105000"/>
              </a:lnSpc>
              <a:defRPr sz="1500">
                <a:solidFill>
                  <a:srgbClr val="1A1A2E"/>
                </a:solidFill>
                <a:latin typeface="Menlo"/>
              </a:defRPr>
            </a:pPr>
            <a:r>
              <a:t>    "entrypoint": "main.py",</a:t>
            </a:r>
          </a:p>
          <a:p>
            <a:pPr>
              <a:lnSpc>
                <a:spcPct val="105000"/>
              </a:lnSpc>
              <a:defRPr sz="1500">
                <a:solidFill>
                  <a:srgbClr val="1A1A2E"/>
                </a:solidFill>
                <a:latin typeface="Menlo"/>
              </a:defRPr>
            </a:pPr>
            <a:r>
              <a:t>    "runtimeVersion": "PYTHON_3_13",</a:t>
            </a:r>
          </a:p>
          <a:p>
            <a:pPr>
              <a:lnSpc>
                <a:spcPct val="105000"/>
              </a:lnSpc>
              <a:defRPr sz="1500">
                <a:solidFill>
                  <a:srgbClr val="1A1A2E"/>
                </a:solidFill>
                <a:latin typeface="Menlo"/>
              </a:defRPr>
            </a:pPr>
            <a:r>
              <a:t>    "envVars": [{</a:t>
            </a:r>
          </a:p>
          <a:p>
            <a:pPr>
              <a:lnSpc>
                <a:spcPct val="105000"/>
              </a:lnSpc>
              <a:defRPr sz="1500">
                <a:solidFill>
                  <a:srgbClr val="1A1A2E"/>
                </a:solidFill>
                <a:latin typeface="Menlo"/>
              </a:defRPr>
            </a:pPr>
            <a:r>
              <a:t>      "name": "MODEL_ID",</a:t>
            </a:r>
          </a:p>
          <a:p>
            <a:pPr>
              <a:lnSpc>
                <a:spcPct val="105000"/>
              </a:lnSpc>
              <a:defRPr sz="1500">
                <a:solidFill>
                  <a:srgbClr val="1A1A2E"/>
                </a:solidFill>
                <a:latin typeface="Menlo"/>
              </a:defRPr>
            </a:pPr>
            <a:r>
              <a:t>      "value": "deepseek.v3.2"</a:t>
            </a:r>
          </a:p>
          <a:p>
            <a:pPr>
              <a:lnSpc>
                <a:spcPct val="105000"/>
              </a:lnSpc>
              <a:defRPr sz="1500">
                <a:solidFill>
                  <a:srgbClr val="1A1A2E"/>
                </a:solidFill>
                <a:latin typeface="Menlo"/>
              </a:defRPr>
            </a:pPr>
            <a:r>
              <a:t>    }]</a:t>
            </a:r>
          </a:p>
          <a:p>
            <a:pPr>
              <a:lnSpc>
                <a:spcPct val="105000"/>
              </a:lnSpc>
              <a:defRPr sz="1500">
                <a:solidFill>
                  <a:srgbClr val="1A1A2E"/>
                </a:solidFill>
                <a:latin typeface="Menlo"/>
              </a:defRPr>
            </a:pPr>
            <a:r>
              <a:t>  }]</a:t>
            </a:r>
          </a:p>
          <a:p>
            <a:pPr>
              <a:lnSpc>
                <a:spcPct val="105000"/>
              </a:lnSpc>
              <a:defRPr sz="1500">
                <a:solidFill>
                  <a:srgbClr val="1A1A2E"/>
                </a:solidFill>
                <a:latin typeface="Menlo"/>
              </a:defRPr>
            </a:pPr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828800"/>
            <a:ext cx="4754880" cy="1463040"/>
          </a:xfrm>
          <a:prstGeom prst="rect">
            <a:avLst/>
          </a:prstGeom>
          <a:solidFill>
            <a:srgbClr val="F4F6F7"/>
          </a:solidFill>
        </p:spPr>
        <p:txBody>
          <a:bodyPr wrap="none">
            <a:spAutoFit/>
          </a:bodyPr>
          <a:lstStyle/>
          <a:p>
            <a:pPr>
              <a:lnSpc>
                <a:spcPct val="105000"/>
              </a:lnSpc>
              <a:defRPr sz="1500">
                <a:solidFill>
                  <a:srgbClr val="1A1A2E"/>
                </a:solidFill>
                <a:latin typeface="Menlo"/>
              </a:defRPr>
            </a:pPr>
            <a:r>
              <a:t>aws-targets.json</a:t>
            </a:r>
          </a:p>
          <a:p>
            <a:pPr>
              <a:lnSpc>
                <a:spcPct val="105000"/>
              </a:lnSpc>
              <a:defRPr sz="1500">
                <a:solidFill>
                  <a:srgbClr val="1A1A2E"/>
                </a:solidFill>
                <a:latin typeface="Menlo"/>
              </a:defRPr>
            </a:pPr>
            <a:r>
              <a:t>[{ "name": "default",</a:t>
            </a:r>
          </a:p>
          <a:p>
            <a:pPr>
              <a:lnSpc>
                <a:spcPct val="105000"/>
              </a:lnSpc>
              <a:defRPr sz="1500">
                <a:solidFill>
                  <a:srgbClr val="1A1A2E"/>
                </a:solidFill>
                <a:latin typeface="Menlo"/>
              </a:defRPr>
            </a:pPr>
            <a:r>
              <a:t>   "account": "...",</a:t>
            </a:r>
          </a:p>
          <a:p>
            <a:pPr>
              <a:lnSpc>
                <a:spcPct val="105000"/>
              </a:lnSpc>
              <a:defRPr sz="1500">
                <a:solidFill>
                  <a:srgbClr val="1A1A2E"/>
                </a:solidFill>
                <a:latin typeface="Menlo"/>
              </a:defRPr>
            </a:pPr>
            <a:r>
              <a:t>   "region": "us-east-1" }]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3657600"/>
            <a:ext cx="47548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 i="0">
                <a:solidFill>
                  <a:srgbClr val="555555"/>
                </a:solidFill>
                <a:latin typeface="Helvetica Neue"/>
              </a:defRPr>
            </a:pPr>
            <a:r>
              <a:t>create writes an empty array.</a:t>
            </a:r>
          </a:p>
          <a:p>
            <a:pPr algn="l">
              <a:defRPr sz="1700" b="0" i="0">
                <a:solidFill>
                  <a:srgbClr val="555555"/>
                </a:solidFill>
                <a:latin typeface="Helvetica Neue"/>
              </a:defRPr>
            </a:pPr>
            <a:r>
              <a:t>The first deploy calls STS</a:t>
            </a:r>
          </a:p>
          <a:p>
            <a:pPr algn="l">
              <a:defRPr sz="1700" b="0" i="0">
                <a:solidFill>
                  <a:srgbClr val="555555"/>
                </a:solidFill>
                <a:latin typeface="Helvetica Neue"/>
              </a:defRPr>
            </a:pPr>
            <a:r>
              <a:t>and fills account + region in.</a:t>
            </a:r>
          </a:p>
          <a:p>
            <a:pPr algn="l">
              <a:defRPr sz="1700" b="0" i="0">
                <a:solidFill>
                  <a:srgbClr val="555555"/>
                </a:solidFill>
                <a:latin typeface="Helvetica Neue"/>
              </a:defRPr>
            </a:pPr>
          </a:p>
          <a:p>
            <a:pPr algn="l">
              <a:defRPr sz="1700" b="0" i="0">
                <a:solidFill>
                  <a:srgbClr val="555555"/>
                </a:solidFill>
                <a:latin typeface="Helvetica Neue"/>
              </a:defRPr>
            </a:pPr>
            <a:r>
              <a:t>No --region flag exists.</a:t>
            </a:r>
          </a:p>
          <a:p>
            <a:pPr algn="l">
              <a:defRPr sz="1700" b="0" i="0">
                <a:solidFill>
                  <a:srgbClr val="555555"/>
                </a:solidFill>
                <a:latin typeface="Helvetica Neue"/>
              </a:defRPr>
            </a:pPr>
            <a:r>
              <a:t>The file is the only truth.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 i="0">
                <a:solidFill>
                  <a:srgbClr val="7F8C8D"/>
                </a:solidFill>
                <a:latin typeface="Helvetica Neue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E67E22"/>
                </a:solidFill>
                <a:latin typeface="Helvetica Neue"/>
              </a:defRPr>
            </a:pPr>
            <a:r>
              <a:t>WHAT DEPLOY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 i="0">
                <a:solidFill>
                  <a:srgbClr val="1A1A2E"/>
                </a:solidFill>
                <a:latin typeface="Helvetica Neue"/>
              </a:defRPr>
            </a:pPr>
            <a:r>
              <a:t>Deploy: six steps, four cloud resources</a:t>
            </a:r>
          </a:p>
        </p:txBody>
      </p:sp>
      <p:pic>
        <p:nvPicPr>
          <p:cNvPr id="4" name="Picture 3" descr="F4-deploy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828800"/>
            <a:ext cx="7406640" cy="28356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9284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 i="0">
                <a:solidFill>
                  <a:srgbClr val="7F8C8D"/>
                </a:solidFill>
                <a:latin typeface="Helvetica Neue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8E44AD"/>
                </a:solidFill>
                <a:latin typeface="Helvetica Neue"/>
              </a:defRPr>
            </a:pPr>
            <a:r>
              <a:t>SCHEMA-FIRST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 i="0">
                <a:solidFill>
                  <a:srgbClr val="1A1A2E"/>
                </a:solidFill>
                <a:latin typeface="Helvetica Neue"/>
              </a:defRPr>
            </a:pPr>
            <a:r>
              <a:t>cdk/ is a compiler. agentcore.json is the program.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949440" cy="3291840"/>
          </a:xfrm>
          <a:prstGeom prst="rect">
            <a:avLst/>
          </a:prstGeom>
          <a:solidFill>
            <a:srgbClr val="F4F6F7"/>
          </a:solidFill>
        </p:spPr>
        <p:txBody>
          <a:bodyPr wrap="none">
            <a:spAutoFit/>
          </a:bodyPr>
          <a:lstStyle/>
          <a:p>
            <a:pPr>
              <a:lnSpc>
                <a:spcPct val="105000"/>
              </a:lnSpc>
              <a:defRPr sz="1600">
                <a:solidFill>
                  <a:srgbClr val="1A1A2E"/>
                </a:solidFill>
                <a:latin typeface="Menlo"/>
              </a:defRPr>
            </a:pPr>
            <a:r>
              <a:t>// agentcore/cdk/bin/cdk.ts (generated)</a:t>
            </a:r>
          </a:p>
          <a:p>
            <a:pPr>
              <a:lnSpc>
                <a:spcPct val="105000"/>
              </a:lnSpc>
              <a:defRPr sz="1600">
                <a:solidFill>
                  <a:srgbClr val="1A1A2E"/>
                </a:solidFill>
                <a:latin typeface="Menlo"/>
              </a:defRPr>
            </a:pPr>
            <a:r>
              <a:t>const configRoot = path.resolve(process.cwd(), '..');</a:t>
            </a:r>
          </a:p>
          <a:p>
            <a:pPr>
              <a:lnSpc>
                <a:spcPct val="105000"/>
              </a:lnSpc>
              <a:defRPr sz="1600">
                <a:solidFill>
                  <a:srgbClr val="1A1A2E"/>
                </a:solidFill>
                <a:latin typeface="Menlo"/>
              </a:defRPr>
            </a:pPr>
            <a:r>
              <a:t>const configIO = new ConfigIO({ baseDir: configRoot });</a:t>
            </a:r>
          </a:p>
          <a:p>
            <a:pPr>
              <a:lnSpc>
                <a:spcPct val="105000"/>
              </a:lnSpc>
              <a:defRPr sz="1600">
                <a:solidFill>
                  <a:srgbClr val="1A1A2E"/>
                </a:solidFill>
                <a:latin typeface="Menlo"/>
              </a:defRPr>
            </a:pPr>
          </a:p>
          <a:p>
            <a:pPr>
              <a:lnSpc>
                <a:spcPct val="105000"/>
              </a:lnSpc>
              <a:defRPr sz="1600">
                <a:solidFill>
                  <a:srgbClr val="1A1A2E"/>
                </a:solidFill>
                <a:latin typeface="Menlo"/>
              </a:defRPr>
            </a:pPr>
            <a:r>
              <a:t>const spec    = await configIO.readProjectSpec();</a:t>
            </a:r>
          </a:p>
          <a:p>
            <a:pPr>
              <a:lnSpc>
                <a:spcPct val="105000"/>
              </a:lnSpc>
              <a:defRPr sz="1600">
                <a:solidFill>
                  <a:srgbClr val="1A1A2E"/>
                </a:solidFill>
                <a:latin typeface="Menlo"/>
              </a:defRPr>
            </a:pPr>
            <a:r>
              <a:t>const targets = await configIO.readAWSDeploymentTargets();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94960"/>
            <a:ext cx="6949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 i="0">
                <a:solidFill>
                  <a:srgbClr val="555555"/>
                </a:solidFill>
                <a:latin typeface="Helvetica Neue"/>
              </a:defRPr>
            </a:pPr>
            <a:r>
              <a:t>Zero hard-coded names in the generated project (grepped).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828800"/>
            <a:ext cx="3749039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 i="0">
                <a:solidFill>
                  <a:srgbClr val="1A1A2E"/>
                </a:solidFill>
              </a:defRPr>
            </a:pPr>
            <a:r>
              <a:t>Stack name comes</a:t>
            </a:r>
          </a:p>
          <a:p>
            <a:pPr algn="l">
              <a:defRPr sz="1700" b="0" i="0">
                <a:solidFill>
                  <a:srgbClr val="1A1A2E"/>
                </a:solidFill>
              </a:defRPr>
            </a:pPr>
            <a:r>
              <a:t>from the JSON too:</a:t>
            </a:r>
          </a:p>
          <a:p>
            <a:pPr algn="l">
              <a:defRPr sz="1700" b="0" i="0">
                <a:solidFill>
                  <a:srgbClr val="1A1A2E"/>
                </a:solidFill>
              </a:defRPr>
            </a:pPr>
          </a:p>
          <a:p>
            <a:pPr algn="l">
              <a:defRPr sz="1700" b="0" i="0">
                <a:solidFill>
                  <a:srgbClr val="1A1A2E"/>
                </a:solidFill>
              </a:defRPr>
            </a:pPr>
            <a:r>
              <a:t>AgentCore-</a:t>
            </a:r>
          </a:p>
          <a:p>
            <a:pPr algn="l">
              <a:defRPr sz="1700" b="0" i="0">
                <a:solidFill>
                  <a:srgbClr val="1A1A2E"/>
                </a:solidFill>
              </a:defRPr>
            </a:pPr>
            <a:r>
              <a:t>  &lt;project&gt;-</a:t>
            </a:r>
          </a:p>
          <a:p>
            <a:pPr algn="l">
              <a:defRPr sz="1700" b="0" i="0">
                <a:solidFill>
                  <a:srgbClr val="1A1A2E"/>
                </a:solidFill>
              </a:defRPr>
            </a:pPr>
            <a:r>
              <a:t>  &lt;target&gt;</a:t>
            </a:r>
          </a:p>
          <a:p>
            <a:pPr algn="l">
              <a:defRPr sz="1700" b="0" i="0">
                <a:solidFill>
                  <a:srgbClr val="1A1A2E"/>
                </a:solidFill>
              </a:defRPr>
            </a:pPr>
          </a:p>
          <a:p>
            <a:pPr algn="l">
              <a:defRPr sz="1700" b="0" i="0">
                <a:solidFill>
                  <a:srgbClr val="1A1A2E"/>
                </a:solidFill>
              </a:defRPr>
            </a:pPr>
            <a:r>
              <a:t>Same TS, different</a:t>
            </a:r>
          </a:p>
          <a:p>
            <a:pPr algn="l">
              <a:defRPr sz="1700" b="0" i="0">
                <a:solidFill>
                  <a:srgbClr val="1A1A2E"/>
                </a:solidFill>
              </a:defRPr>
            </a:pPr>
            <a:r>
              <a:t>JSON → different</a:t>
            </a:r>
          </a:p>
          <a:p>
            <a:pPr algn="l">
              <a:defRPr sz="1700" b="0" i="0">
                <a:solidFill>
                  <a:srgbClr val="1A1A2E"/>
                </a:solidFill>
              </a:defRPr>
            </a:pPr>
            <a:r>
              <a:t>stack.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 i="0">
                <a:solidFill>
                  <a:srgbClr val="7F8C8D"/>
                </a:solidFill>
                <a:latin typeface="Helvetica Neue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7F8C8D"/>
                </a:solidFill>
                <a:latin typeface="Helvetica Neue"/>
              </a:defRPr>
            </a:pPr>
            <a:r>
              <a:t>RUNNING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 i="0">
                <a:solidFill>
                  <a:srgbClr val="1A1A2E"/>
                </a:solidFill>
                <a:latin typeface="Helvetica Neue"/>
              </a:defRPr>
            </a:pPr>
            <a:r>
              <a:t>Local: same app, same routes, no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394960" cy="2011680"/>
          </a:xfrm>
          <a:prstGeom prst="rect">
            <a:avLst/>
          </a:prstGeom>
          <a:solidFill>
            <a:srgbClr val="F4F6F7"/>
          </a:solidFill>
        </p:spPr>
        <p:txBody>
          <a:bodyPr wrap="none">
            <a:spAutoFit/>
          </a:bodyPr>
          <a:lstStyle/>
          <a:p>
            <a:pPr>
              <a:lnSpc>
                <a:spcPct val="105000"/>
              </a:lnSpc>
              <a:defRPr sz="1500">
                <a:solidFill>
                  <a:srgbClr val="1A1A2E"/>
                </a:solidFill>
                <a:latin typeface="Menlo"/>
              </a:defRPr>
            </a:pPr>
            <a:r>
              <a:t>$ agentcore dev</a:t>
            </a:r>
          </a:p>
          <a:p>
            <a:pPr>
              <a:lnSpc>
                <a:spcPct val="105000"/>
              </a:lnSpc>
              <a:defRPr sz="1500">
                <a:solidFill>
                  <a:srgbClr val="1A1A2E"/>
                </a:solidFill>
                <a:latin typeface="Menlo"/>
              </a:defRPr>
            </a:pPr>
            <a:r>
              <a:t>Server: http://localhost:8080/invocations</a:t>
            </a:r>
          </a:p>
          <a:p>
            <a:pPr>
              <a:lnSpc>
                <a:spcPct val="105000"/>
              </a:lnSpc>
              <a:defRPr sz="1500">
                <a:solidFill>
                  <a:srgbClr val="1A1A2E"/>
                </a:solidFill>
                <a:latin typeface="Menlo"/>
              </a:defRPr>
            </a:pPr>
            <a:r>
              <a:t>(ping / invocations — same two routes)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5394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 i="0">
                <a:solidFill>
                  <a:srgbClr val="555555"/>
                </a:solidFill>
                <a:latin typeface="Helvetica Neue"/>
              </a:defRPr>
            </a:pPr>
            <a:r>
              <a:t>Uvicorn + hot reload.</a:t>
            </a:r>
          </a:p>
          <a:p>
            <a:pPr algn="l">
              <a:defRPr sz="1700" b="0" i="0">
                <a:solidFill>
                  <a:srgbClr val="555555"/>
                </a:solidFill>
                <a:latin typeface="Helvetica Neue"/>
              </a:defRPr>
            </a:pPr>
            <a:r>
              <a:t>Model calls still go to Bedrock:</a:t>
            </a:r>
          </a:p>
          <a:p>
            <a:pPr algn="l">
              <a:defRPr sz="1700" b="0" i="0">
                <a:solidFill>
                  <a:srgbClr val="555555"/>
                </a:solidFill>
                <a:latin typeface="Helvetica Neue"/>
              </a:defRPr>
            </a:pPr>
            <a:r>
              <a:t>credentials needed, deployment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37744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 i="0">
                <a:solidFill>
                  <a:srgbClr val="1A1A2E"/>
                </a:solidFill>
                <a:latin typeface="Helvetica Neue"/>
              </a:defRPr>
            </a:pPr>
            <a:r>
              <a:t>Same prompt, same code,</a:t>
            </a:r>
          </a:p>
          <a:p>
            <a:pPr algn="l">
              <a:defRPr sz="1900" b="0" i="0">
                <a:solidFill>
                  <a:srgbClr val="1A1A2E"/>
                </a:solidFill>
                <a:latin typeface="Helvetica Neue"/>
              </a:defRPr>
            </a:pPr>
            <a:r>
              <a:t>same contract —</a:t>
            </a:r>
          </a:p>
          <a:p>
            <a:pPr algn="l">
              <a:defRPr sz="1900" b="0" i="0">
                <a:solidFill>
                  <a:srgbClr val="1A1A2E"/>
                </a:solidFill>
                <a:latin typeface="Helvetica Neue"/>
              </a:defRPr>
            </a:pPr>
          </a:p>
          <a:p>
            <a:pPr algn="l">
              <a:defRPr sz="1900" b="0" i="0">
                <a:solidFill>
                  <a:srgbClr val="1A1A2E"/>
                </a:solidFill>
                <a:latin typeface="Helvetica Neue"/>
              </a:defRPr>
            </a:pPr>
            <a:r>
              <a:t>deployed runtime answers</a:t>
            </a:r>
          </a:p>
          <a:p>
            <a:pPr algn="l">
              <a:defRPr sz="1900" b="0" i="0">
                <a:solidFill>
                  <a:srgbClr val="1A1A2E"/>
                </a:solidFill>
                <a:latin typeface="Helvetica Neue"/>
              </a:defRPr>
            </a:pPr>
            <a:r>
              <a:t>through the data plane.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 i="0">
                <a:solidFill>
                  <a:srgbClr val="7F8C8D"/>
                </a:solidFill>
                <a:latin typeface="Helvetica Neue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2E86DE"/>
                </a:solidFill>
                <a:latin typeface="Helvetica Neue"/>
              </a:defRPr>
            </a:pPr>
            <a:r>
              <a:t>DATA PLANE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 i="0">
                <a:solidFill>
                  <a:srgbClr val="1A1A2E"/>
                </a:solidFill>
                <a:latin typeface="Helvetica Neue"/>
              </a:defRPr>
            </a:pPr>
            <a:r>
              <a:t>The tool call is visible in the raw stream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881360" cy="2651760"/>
          </a:xfrm>
          <a:prstGeom prst="rect">
            <a:avLst/>
          </a:prstGeom>
          <a:solidFill>
            <a:srgbClr val="F4F6F7"/>
          </a:solidFill>
        </p:spPr>
        <p:txBody>
          <a:bodyPr wrap="none">
            <a:spAutoFit/>
          </a:bodyPr>
          <a:lstStyle/>
          <a:p>
            <a:pPr>
              <a:lnSpc>
                <a:spcPct val="105000"/>
              </a:lnSpc>
              <a:defRPr sz="1600">
                <a:solidFill>
                  <a:srgbClr val="1A1A2E"/>
                </a:solidFill>
                <a:latin typeface="Menlo"/>
              </a:defRPr>
            </a:pPr>
            <a:r>
              <a:t>contentBlockStart:  toolUse  name=add_numbers  input={"a": 17, "b": 25}</a:t>
            </a:r>
          </a:p>
          <a:p>
            <a:pPr>
              <a:lnSpc>
                <a:spcPct val="105000"/>
              </a:lnSpc>
              <a:defRPr sz="1600">
                <a:solidFill>
                  <a:srgbClr val="1A1A2E"/>
                </a:solidFill>
                <a:latin typeface="Menlo"/>
              </a:defRPr>
            </a:pPr>
            <a:r>
              <a:t>messageStop:        stopReason=tool_use      # the loop stops to run the tool</a:t>
            </a:r>
          </a:p>
          <a:p>
            <a:pPr>
              <a:lnSpc>
                <a:spcPct val="105000"/>
              </a:lnSpc>
              <a:defRPr sz="1600">
                <a:solidFill>
                  <a:srgbClr val="1A1A2E"/>
                </a:solidFill>
                <a:latin typeface="Menlo"/>
              </a:defRPr>
            </a:pPr>
            <a:r>
              <a:t>contentBlockDelta:  "17 plus 25 equals 42."  # the second message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93776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1" i="0">
                <a:solidFill>
                  <a:srgbClr val="1A1A2E"/>
                </a:solidFill>
                <a:latin typeface="Helvetica Neue"/>
              </a:defRPr>
            </a:pPr>
            <a:r>
              <a:t>Native Bedrock toolUse protocol blocks — no new tool protocol to learn.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 i="0">
                <a:solidFill>
                  <a:srgbClr val="7F8C8D"/>
                </a:solidFill>
                <a:latin typeface="Helvetica Neue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27AE60"/>
                </a:solidFill>
                <a:latin typeface="Helvetica Neue"/>
              </a:defRPr>
            </a:pPr>
            <a:r>
              <a:t>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 i="0">
                <a:solidFill>
                  <a:srgbClr val="1A1A2E"/>
                </a:solidFill>
                <a:latin typeface="Helvetica Neue"/>
              </a:defRPr>
            </a:pPr>
            <a:r>
              <a:t>One invoke costs about $0.0009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512064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 i="0">
                <a:solidFill>
                  <a:srgbClr val="555555"/>
                </a:solidFill>
                <a:latin typeface="Helvetica Neue"/>
              </a:defRPr>
            </a:pPr>
            <a:r>
              <a:t>deepseek.v3.2 (us-east-1)</a:t>
            </a:r>
          </a:p>
          <a:p>
            <a:pPr algn="l">
              <a:defRPr sz="1900" b="0" i="0">
                <a:solidFill>
                  <a:srgbClr val="555555"/>
                </a:solidFill>
                <a:latin typeface="Helvetica Neue"/>
              </a:defRPr>
            </a:pPr>
            <a:r>
              <a:t>$0.62 / M input tokens</a:t>
            </a:r>
          </a:p>
          <a:p>
            <a:pPr algn="l">
              <a:defRPr sz="1900" b="0" i="0">
                <a:solidFill>
                  <a:srgbClr val="555555"/>
                </a:solidFill>
                <a:latin typeface="Helvetica Neue"/>
              </a:defRPr>
            </a:pPr>
            <a:r>
              <a:t>$1.85 / M output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1" i="0">
                <a:solidFill>
                  <a:srgbClr val="1A1A2E"/>
                </a:solidFill>
                <a:latin typeface="Helvetica Neue"/>
              </a:defRPr>
            </a:pPr>
            <a:r>
              <a:t>846 in + 82 out</a:t>
            </a:r>
          </a:p>
          <a:p>
            <a:pPr algn="l">
              <a:defRPr sz="1900" b="1" i="0">
                <a:solidFill>
                  <a:srgbClr val="1A1A2E"/>
                </a:solidFill>
                <a:latin typeface="Helvetica Neue"/>
              </a:defRPr>
            </a:pPr>
            <a:r>
              <a:t>≈ $0.0007 model + $0.0002 compute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94560"/>
            <a:ext cx="51206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0" i="0">
                <a:solidFill>
                  <a:srgbClr val="1A1A2E"/>
                </a:solidFill>
                <a:latin typeface="Helvetica Neue"/>
              </a:defRPr>
            </a:pPr>
            <a:r>
              <a:t>First deploy: 9 min 49 s</a:t>
            </a:r>
          </a:p>
          <a:p>
            <a:pPr algn="l">
              <a:defRPr sz="1900" b="0" i="0">
                <a:solidFill>
                  <a:srgbClr val="1A1A2E"/>
                </a:solidFill>
                <a:latin typeface="Helvetica Neue"/>
              </a:defRPr>
            </a:pPr>
            <a:r>
              <a:t>Redeploy: 26 s</a:t>
            </a:r>
          </a:p>
          <a:p>
            <a:pPr algn="l">
              <a:defRPr sz="1900" b="0" i="0">
                <a:solidFill>
                  <a:srgbClr val="1A1A2E"/>
                </a:solidFill>
                <a:latin typeface="Helvetica Neue"/>
              </a:defRPr>
            </a:pPr>
          </a:p>
          <a:p>
            <a:pPr algn="l">
              <a:defRPr sz="1900" b="0" i="0">
                <a:solidFill>
                  <a:srgbClr val="1A1A2E"/>
                </a:solidFill>
                <a:latin typeface="Helvetica Neue"/>
              </a:defRPr>
            </a:pPr>
            <a:r>
              <a:t>The infra bill rounds to zero.</a:t>
            </a:r>
          </a:p>
          <a:p>
            <a:pPr algn="l">
              <a:defRPr sz="1900" b="0" i="0">
                <a:solidFill>
                  <a:srgbClr val="1A1A2E"/>
                </a:solidFill>
                <a:latin typeface="Helvetica Neue"/>
              </a:defRPr>
            </a:pPr>
            <a:r>
              <a:t>The engineering cost is</a:t>
            </a:r>
          </a:p>
          <a:p>
            <a:pPr algn="l">
              <a:defRPr sz="1900" b="0" i="0">
                <a:solidFill>
                  <a:srgbClr val="1A1A2E"/>
                </a:solidFill>
                <a:latin typeface="Helvetica Neue"/>
              </a:defRPr>
            </a:pPr>
            <a:r>
              <a:t>reading the trace.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 i="0">
                <a:solidFill>
                  <a:srgbClr val="7F8C8D"/>
                </a:solidFill>
                <a:latin typeface="Helvetica Neue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2E86DE"/>
                </a:solidFill>
                <a:latin typeface="Helvetica Neue"/>
              </a:defRPr>
            </a:pPr>
            <a:r>
              <a:t>ENTRYPOINT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 i="0">
                <a:solidFill>
                  <a:srgbClr val="1A1A2E"/>
                </a:solidFill>
                <a:latin typeface="Helvetica Neue"/>
              </a:defRPr>
            </a:pPr>
            <a:r>
              <a:t>Two requests. That is the whole platform contract.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766560" cy="4023360"/>
          </a:xfrm>
          <a:prstGeom prst="rect">
            <a:avLst/>
          </a:prstGeom>
          <a:solidFill>
            <a:srgbClr val="F4F6F7"/>
          </a:solidFill>
        </p:spPr>
        <p:txBody>
          <a:bodyPr wrap="none">
            <a:spAutoFit/>
          </a:bodyPr>
          <a:lstStyle/>
          <a:p>
            <a:pPr>
              <a:lnSpc>
                <a:spcPct val="105000"/>
              </a:lnSpc>
              <a:defRPr sz="1700">
                <a:solidFill>
                  <a:srgbClr val="1A1A2E"/>
                </a:solidFill>
                <a:latin typeface="Menlo"/>
              </a:defRPr>
            </a:pPr>
            <a:r>
              <a:t>@app.entrypoint</a:t>
            </a:r>
          </a:p>
          <a:p>
            <a:pPr>
              <a:lnSpc>
                <a:spcPct val="105000"/>
              </a:lnSpc>
              <a:defRPr sz="1700">
                <a:solidFill>
                  <a:srgbClr val="1A1A2E"/>
                </a:solidFill>
                <a:latin typeface="Menlo"/>
              </a:defRPr>
            </a:pPr>
            <a:r>
              <a:t>async def invoke(payload, context):</a:t>
            </a:r>
          </a:p>
          <a:p>
            <a:pPr>
              <a:lnSpc>
                <a:spcPct val="105000"/>
              </a:lnSpc>
              <a:defRPr sz="1700">
                <a:solidFill>
                  <a:srgbClr val="1A1A2E"/>
                </a:solidFill>
                <a:latin typeface="Menlo"/>
              </a:defRPr>
            </a:pPr>
            <a:r>
              <a:t>    session_id = getattr(</a:t>
            </a:r>
          </a:p>
          <a:p>
            <a:pPr>
              <a:lnSpc>
                <a:spcPct val="105000"/>
              </a:lnSpc>
              <a:defRPr sz="1700">
                <a:solidFill>
                  <a:srgbClr val="1A1A2E"/>
                </a:solidFill>
                <a:latin typeface="Menlo"/>
              </a:defRPr>
            </a:pPr>
            <a:r>
              <a:t>        context, "session_id", "default-session")</a:t>
            </a:r>
          </a:p>
          <a:p>
            <a:pPr>
              <a:lnSpc>
                <a:spcPct val="105000"/>
              </a:lnSpc>
              <a:defRPr sz="1700">
                <a:solidFill>
                  <a:srgbClr val="1A1A2E"/>
                </a:solidFill>
                <a:latin typeface="Menlo"/>
              </a:defRPr>
            </a:pPr>
            <a:r>
              <a:t>    agent = get_or_create_agent(session_id)</a:t>
            </a:r>
          </a:p>
          <a:p>
            <a:pPr>
              <a:lnSpc>
                <a:spcPct val="105000"/>
              </a:lnSpc>
              <a:defRPr sz="1700">
                <a:solidFill>
                  <a:srgbClr val="1A1A2E"/>
                </a:solidFill>
                <a:latin typeface="Menlo"/>
              </a:defRPr>
            </a:pPr>
            <a:r>
              <a:t>    async for event in agent.stream_async(prompt):</a:t>
            </a:r>
          </a:p>
          <a:p>
            <a:pPr>
              <a:lnSpc>
                <a:spcPct val="105000"/>
              </a:lnSpc>
              <a:defRPr sz="1700">
                <a:solidFill>
                  <a:srgbClr val="1A1A2E"/>
                </a:solidFill>
                <a:latin typeface="Menlo"/>
              </a:defRPr>
            </a:pPr>
            <a:r>
              <a:t>        yield event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1828800"/>
            <a:ext cx="38404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 i="0">
                <a:solidFill>
                  <a:srgbClr val="1A1A2E"/>
                </a:solidFill>
                <a:latin typeface="Helvetica Neue"/>
              </a:defRPr>
            </a:pPr>
            <a:r>
              <a:t>GET  /ping</a:t>
            </a:r>
          </a:p>
          <a:p>
            <a:pPr algn="l">
              <a:defRPr sz="1700" b="0" i="0">
                <a:solidFill>
                  <a:srgbClr val="1A1A2E"/>
                </a:solidFill>
                <a:latin typeface="Helvetica Neue"/>
              </a:defRPr>
            </a:pPr>
            <a:r>
              <a:t>POST /invocations</a:t>
            </a:r>
          </a:p>
          <a:p>
            <a:pPr algn="l">
              <a:defRPr sz="1700" b="0" i="0">
                <a:solidFill>
                  <a:srgbClr val="1A1A2E"/>
                </a:solidFill>
                <a:latin typeface="Helvetica Neue"/>
              </a:defRPr>
            </a:pPr>
          </a:p>
          <a:p>
            <a:pPr algn="l">
              <a:defRPr sz="1700" b="0" i="0">
                <a:solidFill>
                  <a:srgbClr val="1A1A2E"/>
                </a:solidFill>
                <a:latin typeface="Helvetica Neue"/>
              </a:defRPr>
            </a:pPr>
            <a:r>
              <a:t>yield → one SSE event</a:t>
            </a:r>
          </a:p>
          <a:p>
            <a:pPr algn="l">
              <a:defRPr sz="1700" b="0" i="0">
                <a:solidFill>
                  <a:srgbClr val="1A1A2E"/>
                </a:solidFill>
                <a:latin typeface="Helvetica Neue"/>
              </a:defRPr>
            </a:pPr>
          </a:p>
          <a:p>
            <a:pPr algn="l">
              <a:defRPr sz="1700" b="0" i="0">
                <a:solidFill>
                  <a:srgbClr val="1A1A2E"/>
                </a:solidFill>
                <a:latin typeface="Helvetica Neue"/>
              </a:defRPr>
            </a:pPr>
            <a:r>
              <a:t>session_id = your</a:t>
            </a:r>
          </a:p>
          <a:p>
            <a:pPr algn="l">
              <a:defRPr sz="1700" b="0" i="0">
                <a:solidFill>
                  <a:srgbClr val="1A1A2E"/>
                </a:solidFill>
                <a:latin typeface="Helvetica Neue"/>
              </a:defRPr>
            </a:pPr>
            <a:r>
              <a:t>state key. Platform</a:t>
            </a:r>
          </a:p>
          <a:p>
            <a:pPr algn="l">
              <a:defRPr sz="1700" b="0" i="0">
                <a:solidFill>
                  <a:srgbClr val="1A1A2E"/>
                </a:solidFill>
                <a:latin typeface="Helvetica Neue"/>
              </a:defRPr>
            </a:pPr>
            <a:r>
              <a:t>handles the microVMs.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 i="0">
                <a:solidFill>
                  <a:srgbClr val="7F8C8D"/>
                </a:solidFill>
                <a:latin typeface="Helvetica Neue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27AE60"/>
                </a:solidFill>
                <a:latin typeface="Helvetica Neue"/>
              </a:defRPr>
            </a:pPr>
            <a:r>
              <a:t>OBSERVABILITY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 i="0">
                <a:solidFill>
                  <a:srgbClr val="1A1A2E"/>
                </a:solidFill>
                <a:latin typeface="Helvetica Neue"/>
              </a:defRPr>
            </a:pPr>
            <a:r>
              <a:t>The trace teaches the agent loop without reading source</a:t>
            </a:r>
          </a:p>
        </p:txBody>
      </p:sp>
      <p:pic>
        <p:nvPicPr>
          <p:cNvPr id="4" name="Picture 3" descr="F6-span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737360"/>
            <a:ext cx="7040880" cy="3419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9284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 i="0">
                <a:solidFill>
                  <a:srgbClr val="7F8C8D"/>
                </a:solidFill>
                <a:latin typeface="Helvetica Neue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E74C3C"/>
                </a:solidFill>
                <a:latin typeface="Helvetica Neue"/>
              </a:defRPr>
            </a:pPr>
            <a:r>
              <a:t>WHAT BROKE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 i="0">
                <a:solidFill>
                  <a:srgbClr val="1A1A2E"/>
                </a:solidFill>
                <a:latin typeface="Helvetica Neue"/>
              </a:defRPr>
            </a:pPr>
            <a:r>
              <a:t>Four failures worth passing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1" i="0">
                <a:solidFill>
                  <a:srgbClr val="1A1A2E"/>
                </a:solidFill>
                <a:latin typeface="Helvetica Neue"/>
              </a:defRPr>
            </a:pPr>
            <a:r>
              <a:t>Stale cdk.out fails the next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5394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 i="0">
                <a:solidFill>
                  <a:srgbClr val="555555"/>
                </a:solidFill>
                <a:latin typeface="Helvetica Neue"/>
              </a:defRPr>
            </a:pPr>
            <a:r>
              <a:t>rm -rf agentcore/cdk/cdk.out fixes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35808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1" i="0">
                <a:solidFill>
                  <a:srgbClr val="1A1A2E"/>
                </a:solidFill>
                <a:latin typeface="Helvetica Neue"/>
              </a:defRPr>
            </a:pPr>
            <a:r>
              <a:t>Renaming is destroying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38728"/>
            <a:ext cx="5394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 i="0">
                <a:solidFill>
                  <a:srgbClr val="555555"/>
                </a:solidFill>
                <a:latin typeface="Helvetica Neue"/>
              </a:defRPr>
            </a:pPr>
            <a:r>
              <a:t>name → CloudFormation logical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51376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1" i="0">
                <a:solidFill>
                  <a:srgbClr val="1A1A2E"/>
                </a:solidFill>
                <a:latin typeface="Helvetica Neue"/>
              </a:defRPr>
            </a:pPr>
            <a:r>
              <a:t>Models leak scaffolding into 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54296"/>
            <a:ext cx="5394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 i="0">
                <a:solidFill>
                  <a:srgbClr val="555555"/>
                </a:solidFill>
                <a:latin typeface="Helvetica Neue"/>
              </a:defRPr>
            </a:pPr>
            <a:r>
              <a:t>verified with Strands removed; filter at entrypoint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66944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1" i="0">
                <a:solidFill>
                  <a:srgbClr val="1A1A2E"/>
                </a:solidFill>
                <a:latin typeface="Helvetica Neue"/>
              </a:defRPr>
            </a:pPr>
            <a:r>
              <a:t>Region is not a flag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769864"/>
            <a:ext cx="5394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 i="0">
                <a:solidFill>
                  <a:srgbClr val="555555"/>
                </a:solidFill>
                <a:latin typeface="Helvetica Neue"/>
              </a:defRPr>
            </a:pPr>
            <a:r>
              <a:t>the targets file decides; it fills itself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 i="0">
                <a:solidFill>
                  <a:srgbClr val="7F8C8D"/>
                </a:solidFill>
                <a:latin typeface="Helvetica Neue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8E44AD"/>
                </a:solidFill>
                <a:latin typeface="Helvetica Neue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 i="0">
                <a:solidFill>
                  <a:srgbClr val="1A1A2E"/>
                </a:solidFill>
                <a:latin typeface="Helvetica Neue"/>
              </a:defRPr>
            </a:pPr>
            <a:r>
              <a:t>Four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640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 i="0">
                <a:solidFill>
                  <a:srgbClr val="8E44AD"/>
                </a:solidFill>
                <a:latin typeface="Helvetica Neue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975104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0" i="0">
                <a:solidFill>
                  <a:srgbClr val="1A1A2E"/>
                </a:solidFill>
                <a:latin typeface="Helvetica Neue"/>
              </a:defRPr>
            </a:pPr>
            <a:r>
              <a:t>The JSON file is the interface.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640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 i="0">
                <a:solidFill>
                  <a:srgbClr val="8E44AD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843784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0" i="0">
                <a:solidFill>
                  <a:srgbClr val="1A1A2E"/>
                </a:solidFill>
                <a:latin typeface="Helvetica Neue"/>
              </a:defRPr>
            </a:pPr>
            <a:r>
              <a:t>CDK appears as a vendored compiler.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640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 i="0">
                <a:solidFill>
                  <a:srgbClr val="8E44AD"/>
                </a:solidFill>
                <a:latin typeface="Helvetica Neue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712463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0" i="0">
                <a:solidFill>
                  <a:srgbClr val="1A1A2E"/>
                </a:solidFill>
                <a:latin typeface="Helvetica Neue"/>
              </a:defRPr>
            </a:pPr>
            <a:r>
              <a:t>Local and deployed share one HTTP contract.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26280"/>
            <a:ext cx="640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 i="0">
                <a:solidFill>
                  <a:srgbClr val="8E44AD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581144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0" i="0">
                <a:solidFill>
                  <a:srgbClr val="1A1A2E"/>
                </a:solidFill>
                <a:latin typeface="Helvetica Neue"/>
              </a:defRPr>
            </a:pPr>
            <a:r>
              <a:t>Observability is real but asynchronous.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577840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 i="1">
                <a:solidFill>
                  <a:srgbClr val="2E86DE"/>
                </a:solidFill>
                <a:latin typeface="Helvetica Neue"/>
              </a:defRPr>
            </a:pPr>
            <a:r>
              <a:t>Your infrastructure is not code you maintain. It is code that compiles.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 i="0">
                <a:solidFill>
                  <a:srgbClr val="7F8C8D"/>
                </a:solidFill>
                <a:latin typeface="Helvetica Neue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E67E22"/>
                </a:solidFill>
                <a:latin typeface="Helvetica Neue"/>
              </a:defRPr>
            </a:pPr>
            <a:r>
              <a:t>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 i="0">
                <a:solidFill>
                  <a:srgbClr val="1A1A2E"/>
                </a:solidFill>
                <a:latin typeface="Helvetica Neue"/>
              </a:defRPr>
            </a:pPr>
            <a:r>
              <a:t>Next: 7 use cases, rising difficulty, one pattern</a:t>
            </a:r>
          </a:p>
        </p:txBody>
      </p:sp>
      <p:pic>
        <p:nvPicPr>
          <p:cNvPr id="4" name="Picture 3" descr="F7-series-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1783080"/>
            <a:ext cx="7223760" cy="44632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9284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00" b="0" i="0">
                <a:solidFill>
                  <a:srgbClr val="7F8C8D"/>
                </a:solidFill>
                <a:latin typeface="Helvetica Neue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