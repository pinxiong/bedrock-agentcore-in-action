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F172A"/>
            </a:gs>
            <a:gs pos="100000">
              <a:srgbClr val="1E3A8A"/>
            </a:gs>
          </a:gsLst>
          <a:lin scaled="0" ang="147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gradFill rotWithShape="1">
            <a:gsLst>
              <a:gs pos="0">
                <a:srgbClr val="2563EB"/>
              </a:gs>
              <a:gs pos="100000">
                <a:srgbClr val="7C3AE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847088"/>
            <a:ext cx="1554480" cy="91440"/>
          </a:xfrm>
          <a:prstGeom prst="rect">
            <a:avLst/>
          </a:prstGeom>
          <a:gradFill rotWithShape="1">
            <a:gsLst>
              <a:gs pos="0">
                <a:srgbClr val="FF9900"/>
              </a:gs>
              <a:gs pos="100000">
                <a:srgbClr val="EA580C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5156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defRPr sz="4400" b="1" i="0">
                <a:solidFill>
                  <a:srgbClr val="FFFFFF"/>
                </a:solidFill>
                <a:latin typeface="Helvetica Neue"/>
              </a:defRPr>
            </a:pPr>
            <a:r>
              <a:t>How AWS Bedrock AgentCore</a:t>
            </a:r>
          </a:p>
          <a:p>
            <a:pPr algn="l">
              <a:lnSpc>
                <a:spcPct val="102000"/>
              </a:lnSpc>
              <a:defRPr sz="4400" b="1" i="0">
                <a:solidFill>
                  <a:srgbClr val="FFFFFF"/>
                </a:solidFill>
                <a:latin typeface="Helvetica Neue"/>
              </a:defRPr>
            </a:pPr>
            <a:r>
              <a:t>Actually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77639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2100" b="1" i="0">
                <a:solidFill>
                  <a:srgbClr val="93C5FD"/>
                </a:solidFill>
                <a:latin typeface="Helvetica Neue"/>
              </a:defRPr>
            </a:pPr>
            <a:r>
              <a:t>One JSON File In, Four CloudFormation Resources Out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0749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400" b="0" i="0">
                <a:solidFill>
                  <a:srgbClr val="94A3B8"/>
                </a:solidFill>
                <a:latin typeface="Helvetica Neue"/>
              </a:defRPr>
            </a:pPr>
            <a:r>
              <a:t>AgentCore Series · Article 0 of 8 · measured on a real deployment in us-east-1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62356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00" b="0" i="0">
                <a:solidFill>
                  <a:srgbClr val="94A3B8"/>
                </a:solidFill>
                <a:latin typeface="Helvetica Neue"/>
              </a:defRPr>
            </a:pPr>
            <a:r>
              <a:t>xiongpin.dev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950976" cy="31089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One walkthrough, three acts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7C3AED"/>
              </a:gs>
              <a:gs pos="100000">
                <a:srgbClr val="B692F5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057400"/>
            <a:ext cx="3520440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2057400"/>
            <a:ext cx="82296" cy="393192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377440"/>
            <a:ext cx="2926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500" b="1" i="0">
                <a:solidFill>
                  <a:srgbClr val="7C3AED"/>
                </a:solidFill>
                <a:latin typeface="Helvetica Neue"/>
              </a:defRPr>
            </a:pPr>
            <a:r>
              <a:t>ACT I · KNOW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834640"/>
            <a:ext cx="29260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defRPr sz="1250" b="0" i="0">
                <a:solidFill>
                  <a:srgbClr val="475569"/>
                </a:solidFill>
                <a:latin typeface="Helvetica Neue"/>
              </a:defRPr>
            </a:pPr>
            <a:r>
              <a:t>What AgentCore is, and the three-layer mental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794760"/>
            <a:ext cx="2971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200" b="0" i="0">
                <a:solidFill>
                  <a:srgbClr val="0F172A"/>
                </a:solidFill>
                <a:latin typeface="Helvetica Neue"/>
              </a:defRPr>
            </a:pPr>
            <a:r>
              <a:t>· What it is / what it is not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361688"/>
            <a:ext cx="2971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200" b="0" i="0">
                <a:solidFill>
                  <a:srgbClr val="0F172A"/>
                </a:solidFill>
                <a:latin typeface="Helvetica Neue"/>
              </a:defRPr>
            </a:pPr>
            <a:r>
              <a:t>· Three layers, one direction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2057400"/>
            <a:ext cx="3520440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343400" y="2057400"/>
            <a:ext cx="82296" cy="3931920"/>
          </a:xfrm>
          <a:prstGeom prst="roundRect">
            <a:avLst>
              <a:gd name="adj" fmla="val 50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63440" y="2377440"/>
            <a:ext cx="2926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500" b="1" i="0">
                <a:solidFill>
                  <a:srgbClr val="EA580C"/>
                </a:solidFill>
                <a:latin typeface="Helvetica Neue"/>
              </a:defRPr>
            </a:pPr>
            <a:r>
              <a:t>ACT II · RUN 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2834640"/>
            <a:ext cx="29260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defRPr sz="1250" b="0" i="0">
                <a:solidFill>
                  <a:srgbClr val="475569"/>
                </a:solidFill>
                <a:latin typeface="Helvetica Neue"/>
              </a:defRPr>
            </a:pPr>
            <a:r>
              <a:t>Environment, then five hands-on steps with real output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3794760"/>
            <a:ext cx="2971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200" b="0" i="0">
                <a:solidFill>
                  <a:srgbClr val="0F172A"/>
                </a:solidFill>
                <a:latin typeface="Helvetica Neue"/>
              </a:defRPr>
            </a:pPr>
            <a:r>
              <a:t>· Environment checklist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4361688"/>
            <a:ext cx="2971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200" b="0" i="0">
                <a:solidFill>
                  <a:srgbClr val="0F172A"/>
                </a:solidFill>
                <a:latin typeface="Helvetica Neue"/>
              </a:defRPr>
            </a:pPr>
            <a:r>
              <a:t>· Step 1-5: scaffold, contract, deploy, local, invoke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2057400"/>
            <a:ext cx="3520440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138160" y="2057400"/>
            <a:ext cx="82296" cy="3931920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58200" y="2377440"/>
            <a:ext cx="2926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500" b="1" i="0">
                <a:solidFill>
                  <a:srgbClr val="059669"/>
                </a:solidFill>
                <a:latin typeface="Helvetica Neue"/>
              </a:defRPr>
            </a:pPr>
            <a:r>
              <a:t>ACT III · SEE THROUGH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58200" y="2834640"/>
            <a:ext cx="29260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defRPr sz="1250" b="0" i="0">
                <a:solidFill>
                  <a:srgbClr val="475569"/>
                </a:solidFill>
                <a:latin typeface="Helvetica Neue"/>
              </a:defRPr>
            </a:pPr>
            <a:r>
              <a:t>The mechanisms behind the steps, and what broke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58200" y="3794760"/>
            <a:ext cx="2971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200" b="0" i="0">
                <a:solidFill>
                  <a:srgbClr val="0F172A"/>
                </a:solidFill>
                <a:latin typeface="Helvetica Neue"/>
              </a:defRPr>
            </a:pPr>
            <a:r>
              <a:t>· HTTP contract, trace anatomy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4361688"/>
            <a:ext cx="2971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200" b="0" i="0">
                <a:solidFill>
                  <a:srgbClr val="0F172A"/>
                </a:solidFill>
                <a:latin typeface="Helvetica Neue"/>
              </a:defRPr>
            </a:pPr>
            <a:r>
              <a:t>· Four failures, four takeaways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740664" cy="31089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HOOK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The usual story ends with a Dockerfile and a prayer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2563EB"/>
              </a:gs>
              <a:gs pos="100000">
                <a:srgbClr val="87A9F4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103120"/>
            <a:ext cx="5349240" cy="3749039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2103120"/>
            <a:ext cx="82296" cy="3749039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423160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700" b="1" i="0">
                <a:solidFill>
                  <a:srgbClr val="475569"/>
                </a:solidFill>
                <a:latin typeface="Helvetica Neue"/>
              </a:defRPr>
            </a:pPr>
            <a:r>
              <a:t>The usual story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971800"/>
            <a:ext cx="46634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  <a:defRPr sz="1700" b="0" i="0">
                <a:solidFill>
                  <a:srgbClr val="475569"/>
                </a:solidFill>
                <a:latin typeface="Helvetica Neue"/>
              </a:defRPr>
            </a:pPr>
            <a:r>
              <a:t>Write a Dockerfile</a:t>
            </a:r>
          </a:p>
          <a:p>
            <a:pPr algn="l">
              <a:lnSpc>
                <a:spcPct val="150000"/>
              </a:lnSpc>
              <a:defRPr sz="1700" b="0" i="0">
                <a:solidFill>
                  <a:srgbClr val="475569"/>
                </a:solidFill>
                <a:latin typeface="Helvetica Neue"/>
              </a:defRPr>
            </a:pPr>
            <a:r>
              <a:t>Pick an instance size</a:t>
            </a:r>
          </a:p>
          <a:p>
            <a:pPr algn="l">
              <a:lnSpc>
                <a:spcPct val="150000"/>
              </a:lnSpc>
              <a:defRPr sz="1700" b="0" i="0">
                <a:solidFill>
                  <a:srgbClr val="475569"/>
                </a:solidFill>
                <a:latin typeface="Helvetica Neue"/>
              </a:defRPr>
            </a:pPr>
            <a:r>
              <a:t>Hand-roll an IAM role</a:t>
            </a:r>
          </a:p>
          <a:p>
            <a:pPr algn="l">
              <a:lnSpc>
                <a:spcPct val="150000"/>
              </a:lnSpc>
              <a:defRPr sz="1700" b="0" i="0">
                <a:solidFill>
                  <a:srgbClr val="475569"/>
                </a:solidFill>
                <a:latin typeface="Helvetica Neue"/>
              </a:defRPr>
            </a:pPr>
            <a:r>
              <a:t>Hope the YAML is right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2103120"/>
            <a:ext cx="5349240" cy="3749039"/>
          </a:xfrm>
          <a:prstGeom prst="roundRect">
            <a:avLst>
              <a:gd name="adj" fmla="val 6000"/>
            </a:avLst>
          </a:prstGeom>
          <a:solidFill>
            <a:srgbClr val="D1FAE5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09360" y="2103120"/>
            <a:ext cx="82296" cy="3749039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2423160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700" b="1" i="0">
                <a:solidFill>
                  <a:srgbClr val="047857"/>
                </a:solidFill>
                <a:latin typeface="Helvetica Neue"/>
              </a:defRPr>
            </a:pPr>
            <a:r>
              <a:t>AgentCore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2971800"/>
            <a:ext cx="46634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  <a:defRPr sz="1700" b="0" i="0">
                <a:solidFill>
                  <a:srgbClr val="0F172A"/>
                </a:solidFill>
                <a:latin typeface="Helvetica Neue"/>
              </a:defRPr>
            </a:pPr>
            <a:r>
              <a:t>One JSON file</a:t>
            </a:r>
          </a:p>
          <a:p>
            <a:pPr algn="l">
              <a:lnSpc>
                <a:spcPct val="150000"/>
              </a:lnSpc>
              <a:defRPr sz="1700" b="0" i="0">
                <a:solidFill>
                  <a:srgbClr val="0F172A"/>
                </a:solidFill>
                <a:latin typeface="Helvetica Neue"/>
              </a:defRPr>
            </a:pPr>
            <a:r>
              <a:t>One command</a:t>
            </a:r>
          </a:p>
          <a:p>
            <a:pPr algn="l">
              <a:lnSpc>
                <a:spcPct val="150000"/>
              </a:lnSpc>
              <a:defRPr sz="1700" b="0" i="0">
                <a:solidFill>
                  <a:srgbClr val="0F172A"/>
                </a:solidFill>
                <a:latin typeface="Helvetica Neue"/>
              </a:defRPr>
            </a:pPr>
          </a:p>
          <a:p>
            <a:pPr algn="l">
              <a:lnSpc>
                <a:spcPct val="150000"/>
              </a:lnSpc>
              <a:defRPr sz="1700" b="0" i="0">
                <a:solidFill>
                  <a:srgbClr val="0F172A"/>
                </a:solidFill>
                <a:latin typeface="Helvetica Neue"/>
              </a:defRPr>
            </a:pPr>
            <a:r>
              <a:t>A running, observable endpoint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6035040"/>
            <a:ext cx="5349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defRPr sz="1200" b="0" i="1">
                <a:solidFill>
                  <a:srgbClr val="64748B"/>
                </a:solidFill>
                <a:latin typeface="Helvetica Neue"/>
              </a:defRPr>
            </a:pPr>
            <a:r>
              <a:t>Everything between them is this article.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F172A"/>
            </a:gs>
            <a:gs pos="100000">
              <a:srgbClr val="1E3A8A"/>
            </a:gs>
          </a:gsLst>
          <a:lin scaled="0" ang="147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gradFill rotWithShape="1">
            <a:gsLst>
              <a:gs pos="0">
                <a:srgbClr val="2563EB"/>
              </a:gs>
              <a:gs pos="100000">
                <a:srgbClr val="7C3AE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9260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95000"/>
              </a:lnSpc>
              <a:defRPr sz="5400" b="1" i="0">
                <a:solidFill>
                  <a:srgbClr val="FFFFFF"/>
                </a:solidFill>
                <a:latin typeface="Helvetica Neue"/>
              </a:defRPr>
            </a:pPr>
            <a:r>
              <a:t>ACT</a:t>
            </a:r>
          </a:p>
          <a:p>
            <a:pPr algn="l">
              <a:lnSpc>
                <a:spcPct val="95000"/>
              </a:lnSpc>
              <a:defRPr sz="5400" b="1" i="0">
                <a:solidFill>
                  <a:srgbClr val="FFFFFF"/>
                </a:solidFill>
                <a:latin typeface="Helvetica Neue"/>
              </a:defRPr>
            </a:pPr>
            <a:r>
              <a:t>I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3154680"/>
            <a:ext cx="1188720" cy="82296"/>
          </a:xfrm>
          <a:prstGeom prst="rect">
            <a:avLst/>
          </a:prstGeom>
          <a:gradFill rotWithShape="1">
            <a:gsLst>
              <a:gs pos="0">
                <a:srgbClr val="7C3AED"/>
              </a:gs>
              <a:gs pos="100000">
                <a:srgbClr val="B692F5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5943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200" b="1" i="0">
                <a:solidFill>
                  <a:srgbClr val="FFFFFF"/>
                </a:solidFill>
                <a:latin typeface="Helvetica Neue"/>
              </a:defRPr>
            </a:pPr>
            <a:r>
              <a:t>Know 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554480"/>
            <a:ext cx="5303520" cy="804672"/>
          </a:xfrm>
          <a:prstGeom prst="roundRect">
            <a:avLst>
              <a:gd name="adj" fmla="val 14000"/>
            </a:avLst>
          </a:prstGeom>
          <a:solidFill>
            <a:srgbClr val="1B2A4A"/>
          </a:solidFill>
          <a:ln w="12700">
            <a:solidFill>
              <a:srgbClr val="2A3E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59" y="1664207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500" b="1" i="0">
                <a:solidFill>
                  <a:srgbClr val="FFFFFF"/>
                </a:solidFill>
                <a:latin typeface="Helvetica Neue"/>
              </a:defRPr>
            </a:pPr>
            <a:r>
              <a:t>What AgentCore is (and is not)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59" y="1993391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150" b="0" i="0">
                <a:solidFill>
                  <a:srgbClr val="93C5FD"/>
                </a:solidFill>
                <a:latin typeface="Helvetica Neue"/>
              </a:defRPr>
            </a:pPr>
            <a:r>
              <a:t>a family of managed runtimes, 14 capabilities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2523744"/>
            <a:ext cx="5303520" cy="804672"/>
          </a:xfrm>
          <a:prstGeom prst="roundRect">
            <a:avLst>
              <a:gd name="adj" fmla="val 14000"/>
            </a:avLst>
          </a:prstGeom>
          <a:solidFill>
            <a:srgbClr val="1B2A4A"/>
          </a:solidFill>
          <a:ln w="12700">
            <a:solidFill>
              <a:srgbClr val="2A3E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59" y="2633472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500" b="1" i="0">
                <a:solidFill>
                  <a:srgbClr val="FFFFFF"/>
                </a:solidFill>
                <a:latin typeface="Helvetica Neue"/>
              </a:defRPr>
            </a:pPr>
            <a:r>
              <a:t>The mental model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59" y="2962656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150" b="0" i="0">
                <a:solidFill>
                  <a:srgbClr val="93C5FD"/>
                </a:solidFill>
                <a:latin typeface="Helvetica Neue"/>
              </a:defRPr>
            </a:pPr>
            <a:r>
              <a:t>you write code + JSON; the CLI generates the rest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WHAT IT 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A family of managed runtimes, not a new framework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059669"/>
              </a:gs>
              <a:gs pos="100000">
                <a:srgbClr val="75C5AC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09344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400" b="0" i="0">
                <a:solidFill>
                  <a:srgbClr val="475569"/>
                </a:solidFill>
                <a:latin typeface="Helvetica Neue"/>
              </a:defRPr>
            </a:pPr>
            <a:r>
              <a:t>Not a framework · not container orchestration · not a model router. Serverless microVM per session.</a:t>
            </a:r>
          </a:p>
        </p:txBody>
      </p:sp>
      <p:pic>
        <p:nvPicPr>
          <p:cNvPr id="6" name="Picture 5" descr="F1-capability-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3320" y="2103120"/>
            <a:ext cx="5486400" cy="43434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1581912" cy="31089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MENTAL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You write code and JSON. The CLI generates the rest.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7C3AED"/>
              </a:gs>
              <a:gs pos="100000">
                <a:srgbClr val="B692F5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2-three-lay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6120" y="1965960"/>
            <a:ext cx="6309360" cy="460495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989320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defRPr sz="1500" b="1" i="0">
                <a:solidFill>
                  <a:srgbClr val="0F172A"/>
                </a:solidFill>
                <a:latin typeface="Helvetica Neue"/>
              </a:defRPr>
            </a:pPr>
            <a:r>
              <a:t>Rule: declare in JSON. Everything generated is regenerable.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F172A"/>
            </a:gs>
            <a:gs pos="100000">
              <a:srgbClr val="1E3A8A"/>
            </a:gs>
          </a:gsLst>
          <a:lin scaled="0" ang="147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gradFill rotWithShape="1">
            <a:gsLst>
              <a:gs pos="0">
                <a:srgbClr val="2563EB"/>
              </a:gs>
              <a:gs pos="100000">
                <a:srgbClr val="7C3AE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9260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95000"/>
              </a:lnSpc>
              <a:defRPr sz="5400" b="1" i="0">
                <a:solidFill>
                  <a:srgbClr val="FFFFFF"/>
                </a:solidFill>
                <a:latin typeface="Helvetica Neue"/>
              </a:defRPr>
            </a:pPr>
            <a:r>
              <a:t>ACT</a:t>
            </a:r>
          </a:p>
          <a:p>
            <a:pPr algn="l">
              <a:lnSpc>
                <a:spcPct val="95000"/>
              </a:lnSpc>
              <a:defRPr sz="5400" b="1" i="0">
                <a:solidFill>
                  <a:srgbClr val="FFFFFF"/>
                </a:solidFill>
                <a:latin typeface="Helvetica Neue"/>
              </a:defRPr>
            </a:pPr>
            <a:r>
              <a:t>II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3154680"/>
            <a:ext cx="1188720" cy="82296"/>
          </a:xfrm>
          <a:prstGeom prst="rect">
            <a:avLst/>
          </a:prstGeom>
          <a:gradFill rotWithShape="1">
            <a:gsLst>
              <a:gs pos="0">
                <a:srgbClr val="EA580C"/>
              </a:gs>
              <a:gs pos="100000">
                <a:srgbClr val="F3A379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5943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200" b="1" i="0">
                <a:solidFill>
                  <a:srgbClr val="FFFFFF"/>
                </a:solidFill>
                <a:latin typeface="Helvetica Neue"/>
              </a:defRPr>
            </a:pPr>
            <a:r>
              <a:t>Run 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554480"/>
            <a:ext cx="5303520" cy="804672"/>
          </a:xfrm>
          <a:prstGeom prst="roundRect">
            <a:avLst>
              <a:gd name="adj" fmla="val 14000"/>
            </a:avLst>
          </a:prstGeom>
          <a:solidFill>
            <a:srgbClr val="1B2A4A"/>
          </a:solidFill>
          <a:ln w="12700">
            <a:solidFill>
              <a:srgbClr val="2A3E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59" y="1664207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500" b="1" i="0">
                <a:solidFill>
                  <a:srgbClr val="FFFFFF"/>
                </a:solidFill>
                <a:latin typeface="Helvetica Neue"/>
              </a:defRPr>
            </a:pPr>
            <a:r>
              <a:t>Environment checklist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59" y="1993391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150" b="0" i="0">
                <a:solidFill>
                  <a:srgbClr val="93C5FD"/>
                </a:solidFill>
                <a:latin typeface="Helvetica Neue"/>
              </a:defRPr>
            </a:pPr>
            <a:r>
              <a:t>versions, permissions, one shadowing trap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2523744"/>
            <a:ext cx="5303520" cy="804672"/>
          </a:xfrm>
          <a:prstGeom prst="roundRect">
            <a:avLst>
              <a:gd name="adj" fmla="val 14000"/>
            </a:avLst>
          </a:prstGeom>
          <a:solidFill>
            <a:srgbClr val="1B2A4A"/>
          </a:solidFill>
          <a:ln w="12700">
            <a:solidFill>
              <a:srgbClr val="2A3E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59" y="2633472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500" b="1" i="0">
                <a:solidFill>
                  <a:srgbClr val="FFFFFF"/>
                </a:solidFill>
                <a:latin typeface="Helvetica Neue"/>
              </a:defRPr>
            </a:pPr>
            <a:r>
              <a:t>Step 1 · Scaffold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59" y="2962656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150" b="0" i="0">
                <a:solidFill>
                  <a:srgbClr val="93C5FD"/>
                </a:solidFill>
                <a:latin typeface="Helvetica Neue"/>
              </a:defRPr>
            </a:pPr>
            <a:r>
              <a:t>agentcore create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3493008"/>
            <a:ext cx="5303520" cy="804672"/>
          </a:xfrm>
          <a:prstGeom prst="roundRect">
            <a:avLst>
              <a:gd name="adj" fmla="val 14000"/>
            </a:avLst>
          </a:prstGeom>
          <a:solidFill>
            <a:srgbClr val="1B2A4A"/>
          </a:solidFill>
          <a:ln w="12700">
            <a:solidFill>
              <a:srgbClr val="2A3E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59" y="3602736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500" b="1" i="0">
                <a:solidFill>
                  <a:srgbClr val="FFFFFF"/>
                </a:solidFill>
                <a:latin typeface="Helvetica Neue"/>
              </a:defRPr>
            </a:pPr>
            <a:r>
              <a:t>Step 2 · The contract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59" y="3931920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150" b="0" i="0">
                <a:solidFill>
                  <a:srgbClr val="93C5FD"/>
                </a:solidFill>
                <a:latin typeface="Helvetica Neue"/>
              </a:defRPr>
            </a:pPr>
            <a:r>
              <a:t>two JSON files you own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35040" y="4462272"/>
            <a:ext cx="5303520" cy="804672"/>
          </a:xfrm>
          <a:prstGeom prst="roundRect">
            <a:avLst>
              <a:gd name="adj" fmla="val 14000"/>
            </a:avLst>
          </a:prstGeom>
          <a:solidFill>
            <a:srgbClr val="1B2A4A"/>
          </a:solidFill>
          <a:ln w="12700">
            <a:solidFill>
              <a:srgbClr val="2A3E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59" y="457200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500" b="1" i="0">
                <a:solidFill>
                  <a:srgbClr val="FFFFFF"/>
                </a:solidFill>
                <a:latin typeface="Helvetica Neue"/>
              </a:defRPr>
            </a:pPr>
            <a:r>
              <a:t>Step 3 · Deploy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4901183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150" b="0" i="0">
                <a:solidFill>
                  <a:srgbClr val="93C5FD"/>
                </a:solidFill>
                <a:latin typeface="Helvetica Neue"/>
              </a:defRPr>
            </a:pPr>
            <a:r>
              <a:t>one command, six steps, four resources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35040" y="5431536"/>
            <a:ext cx="5303520" cy="804672"/>
          </a:xfrm>
          <a:prstGeom prst="roundRect">
            <a:avLst>
              <a:gd name="adj" fmla="val 14000"/>
            </a:avLst>
          </a:prstGeom>
          <a:solidFill>
            <a:srgbClr val="1B2A4A"/>
          </a:solidFill>
          <a:ln w="12700">
            <a:solidFill>
              <a:srgbClr val="2A3E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59" y="5541264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500" b="1" i="0">
                <a:solidFill>
                  <a:srgbClr val="FFFFFF"/>
                </a:solidFill>
                <a:latin typeface="Helvetica Neue"/>
              </a:defRPr>
            </a:pPr>
            <a:r>
              <a:t>Step 4-5 · Run local, invoke cloud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59" y="5870448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150" b="0" i="0">
                <a:solidFill>
                  <a:srgbClr val="93C5FD"/>
                </a:solidFill>
                <a:latin typeface="Helvetica Neue"/>
              </a:defRPr>
            </a:pPr>
            <a:r>
              <a:t>same routes, same contract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1476756" cy="310896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ENVIRONMENT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Before step 1: align the toolchain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0D9488"/>
              </a:gs>
              <a:gs pos="100000">
                <a:srgbClr val="79C4B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057400"/>
            <a:ext cx="5577840" cy="3794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2057400"/>
            <a:ext cx="82296" cy="3794760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28600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500" b="1" i="0">
                <a:solidFill>
                  <a:srgbClr val="0D9488"/>
                </a:solidFill>
                <a:latin typeface="Helvetica Neue"/>
              </a:defRPr>
            </a:pPr>
            <a:r>
              <a:t>Versions (verified 2026-10-14)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788920"/>
            <a:ext cx="1920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00" b="1" i="0">
                <a:solidFill>
                  <a:srgbClr val="0F172A"/>
                </a:solidFill>
                <a:latin typeface="Helvetica Neue"/>
              </a:defRPr>
            </a:pPr>
            <a:r>
              <a:t>Node.js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40" y="278892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00" b="0" i="0">
                <a:solidFill>
                  <a:srgbClr val="475569"/>
                </a:solidFill>
                <a:latin typeface="Helvetica Neue"/>
              </a:defRPr>
            </a:pPr>
            <a:r>
              <a:t>22.x (CLI needs 20+)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282696"/>
            <a:ext cx="1920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00" b="1" i="0">
                <a:solidFill>
                  <a:srgbClr val="0F172A"/>
                </a:solidFill>
                <a:latin typeface="Helvetica Neue"/>
              </a:defRPr>
            </a:pPr>
            <a:r>
              <a:t>AgentCore CLI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40" y="3282696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00" b="0" i="0">
                <a:solidFill>
                  <a:srgbClr val="475569"/>
                </a:solidFill>
                <a:latin typeface="Helvetica Neue"/>
              </a:defRPr>
            </a:pPr>
            <a:r>
              <a:t>0.31.1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776472"/>
            <a:ext cx="1920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00" b="1" i="0">
                <a:solidFill>
                  <a:srgbClr val="0F172A"/>
                </a:solidFill>
                <a:latin typeface="Helvetica Neue"/>
              </a:defRPr>
            </a:pPr>
            <a:r>
              <a:t>AWS CLI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40" y="3776472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00" b="0" i="0">
                <a:solidFill>
                  <a:srgbClr val="475569"/>
                </a:solidFill>
                <a:latin typeface="Helvetica Neue"/>
              </a:defRPr>
            </a:pPr>
            <a:r>
              <a:t>2.x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270248"/>
            <a:ext cx="1920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00" b="1" i="0">
                <a:solidFill>
                  <a:srgbClr val="0F172A"/>
                </a:solidFill>
                <a:latin typeface="Helvetica Neue"/>
              </a:defRPr>
            </a:pPr>
            <a:r>
              <a:t>Python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40" y="4270248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00" b="0" i="0">
                <a:solidFill>
                  <a:srgbClr val="475569"/>
                </a:solidFill>
                <a:latin typeface="Helvetica Neue"/>
              </a:defRPr>
            </a:pPr>
            <a:r>
              <a:t>3.11 local · CodeZip allows 3.10-3.13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764024"/>
            <a:ext cx="1920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00" b="1" i="0">
                <a:solidFill>
                  <a:srgbClr val="0F172A"/>
                </a:solidFill>
                <a:latin typeface="Helvetica Neue"/>
              </a:defRPr>
            </a:pPr>
            <a:r>
              <a:t>Region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34640" y="4764024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00" b="0" i="0">
                <a:solidFill>
                  <a:srgbClr val="475569"/>
                </a:solidFill>
                <a:latin typeface="Helvetica Neue"/>
              </a:defRPr>
            </a:pPr>
            <a:r>
              <a:t>us-east-1 (whole series)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5257800"/>
            <a:ext cx="1920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00" b="1" i="0">
                <a:solidFill>
                  <a:srgbClr val="0F172A"/>
                </a:solidFill>
                <a:latin typeface="Helvetica Neue"/>
              </a:defRPr>
            </a:pPr>
            <a:r>
              <a:t>Docker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40" y="525780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00" b="0" i="0">
                <a:solidFill>
                  <a:srgbClr val="475569"/>
                </a:solidFill>
                <a:latin typeface="Helvetica Neue"/>
              </a:defRPr>
            </a:pPr>
            <a:r>
              <a:t>not needed - CodeZip builds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0" y="2057400"/>
            <a:ext cx="5257800" cy="3794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400800" y="2057400"/>
            <a:ext cx="82296" cy="379476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20840" y="228600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500" b="1" i="0">
                <a:solidFill>
                  <a:srgbClr val="2563EB"/>
                </a:solidFill>
                <a:latin typeface="Helvetica Neue"/>
              </a:defRPr>
            </a:pPr>
            <a:r>
              <a:t>Two identities, two permission sets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0840" y="2788920"/>
            <a:ext cx="46634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defRPr sz="1300" b="0" i="0">
                <a:solidFill>
                  <a:srgbClr val="475569"/>
                </a:solidFill>
                <a:latin typeface="Helvetica Neue"/>
              </a:defRPr>
            </a:pPr>
            <a:r>
              <a:t>You (deployer): create CFN stacks, upload to the bootstrap bucket, manage AgentCore resources.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3886200"/>
            <a:ext cx="46634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defRPr sz="1300" b="0" i="0">
                <a:solidFill>
                  <a:srgbClr val="475569"/>
                </a:solidFill>
                <a:latin typeface="Helvetica Neue"/>
              </a:defRPr>
            </a:pPr>
            <a:r>
              <a:t>The runtime (generated role): bedrock:InvokeModel* + logs:* + xray:PutTraceSegments. A least-privilege template for free.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720840" y="5212080"/>
            <a:ext cx="4617720" cy="502920"/>
          </a:xfrm>
          <a:prstGeom prst="roundRect">
            <a:avLst>
              <a:gd name="adj" fmla="val 30000"/>
            </a:avLst>
          </a:prstGeom>
          <a:solidFill>
            <a:srgbClr val="FFE4E6"/>
          </a:solidFill>
          <a:ln w="1270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03720" y="5285232"/>
            <a:ext cx="4389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150" b="1" i="0">
                <a:solidFill>
                  <a:srgbClr val="BE123C"/>
                </a:solidFill>
                <a:latin typeface="Helvetica Neue"/>
              </a:defRPr>
            </a:pPr>
            <a:r>
              <a:t>Trap: old Python CLI shadows npm one - pip uninstall it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2107692" cy="31089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STEP 1 · SCAFFOLD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agentcore create builds the skeleton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2563EB"/>
              </a:gs>
              <a:gs pos="100000">
                <a:srgbClr val="87A9F4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835640" y="502920"/>
            <a:ext cx="685800" cy="685800"/>
          </a:xfrm>
          <a:prstGeom prst="ellipse">
            <a:avLst/>
          </a:prstGeom>
          <a:gradFill rotWithShape="1">
            <a:gsLst>
              <a:gs pos="0">
                <a:srgbClr val="2563EB"/>
              </a:gs>
              <a:gs pos="100000">
                <a:srgbClr val="1D4ED8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700" b="1">
                <a:solidFill>
                  <a:srgbClr val="FFFFFF"/>
                </a:solidFill>
                <a:latin typeface="Helvetica Neue"/>
              </a:defRPr>
            </a:pPr>
            <a:r>
              <a:t>1</a:t>
            </a:r>
          </a:p>
        </p:txBody>
      </p:sp>
      <p:pic>
        <p:nvPicPr>
          <p:cNvPr id="6" name="Picture 5" descr="F3-directory-anatom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4760" y="1874519"/>
            <a:ext cx="5120640" cy="443077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2286000"/>
            <a:ext cx="310896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defRPr sz="1400" b="0" i="0">
                <a:solidFill>
                  <a:srgbClr val="475569"/>
                </a:solidFill>
                <a:latin typeface="Helvetica Neue"/>
              </a:defRPr>
            </a:pPr>
            <a:r>
              <a:t>create writes</a:t>
            </a:r>
          </a:p>
          <a:p>
            <a:pPr algn="l">
              <a:lnSpc>
                <a:spcPct val="115000"/>
              </a:lnSpc>
              <a:defRPr sz="1400" b="0" i="0">
                <a:solidFill>
                  <a:srgbClr val="475569"/>
                </a:solidFill>
                <a:latin typeface="Helvetica Neue"/>
              </a:defRPr>
            </a:pPr>
            <a:r>
              <a:t>agentcore.json</a:t>
            </a:r>
          </a:p>
          <a:p>
            <a:pPr algn="l">
              <a:lnSpc>
                <a:spcPct val="115000"/>
              </a:lnSpc>
              <a:defRPr sz="1400" b="0" i="0">
                <a:solidFill>
                  <a:srgbClr val="475569"/>
                </a:solidFill>
                <a:latin typeface="Helvetica Neue"/>
              </a:defRPr>
            </a:pPr>
            <a:r>
              <a:t>with 15 empty</a:t>
            </a:r>
          </a:p>
          <a:p>
            <a:pPr algn="l">
              <a:lnSpc>
                <a:spcPct val="115000"/>
              </a:lnSpc>
              <a:defRPr sz="1400" b="0" i="0">
                <a:solidFill>
                  <a:srgbClr val="475569"/>
                </a:solidFill>
                <a:latin typeface="Helvetica Neue"/>
              </a:defRPr>
            </a:pPr>
            <a:r>
              <a:t>resource arrays,</a:t>
            </a:r>
          </a:p>
          <a:p>
            <a:pPr algn="l">
              <a:lnSpc>
                <a:spcPct val="115000"/>
              </a:lnSpc>
              <a:defRPr sz="1400" b="0" i="0">
                <a:solidFill>
                  <a:srgbClr val="475569"/>
                </a:solidFill>
                <a:latin typeface="Helvetica Neue"/>
              </a:defRPr>
            </a:pPr>
            <a:r>
              <a:t>and aws-targets.json</a:t>
            </a:r>
          </a:p>
          <a:p>
            <a:pPr algn="l">
              <a:lnSpc>
                <a:spcPct val="115000"/>
              </a:lnSpc>
              <a:defRPr sz="1400" b="0" i="0">
                <a:solidFill>
                  <a:srgbClr val="475569"/>
                </a:solidFill>
                <a:latin typeface="Helvetica Neue"/>
              </a:defRPr>
            </a:pPr>
            <a:r>
              <a:t>with just [ ]</a:t>
            </a:r>
          </a:p>
          <a:p>
            <a:pPr algn="l">
              <a:lnSpc>
                <a:spcPct val="115000"/>
              </a:lnSpc>
              <a:defRPr sz="1400" b="0" i="0">
                <a:solidFill>
                  <a:srgbClr val="475569"/>
                </a:solidFill>
                <a:latin typeface="Helvetica Neue"/>
              </a:defRPr>
            </a:pPr>
          </a:p>
          <a:p>
            <a:pPr algn="l">
              <a:lnSpc>
                <a:spcPct val="115000"/>
              </a:lnSpc>
              <a:defRPr sz="1400" b="0" i="0">
                <a:solidFill>
                  <a:srgbClr val="475569"/>
                </a:solidFill>
                <a:latin typeface="Helvetica Neue"/>
              </a:defRPr>
            </a:pPr>
            <a:r>
              <a:t>Blue = you write</a:t>
            </a:r>
          </a:p>
          <a:p>
            <a:pPr algn="l">
              <a:lnSpc>
                <a:spcPct val="115000"/>
              </a:lnSpc>
              <a:defRPr sz="1400" b="0" i="0">
                <a:solidFill>
                  <a:srgbClr val="475569"/>
                </a:solidFill>
                <a:latin typeface="Helvetica Neue"/>
              </a:defRPr>
            </a:pPr>
            <a:r>
              <a:t>Gray = CLI generates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2528316" cy="31089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STEP 2 · THE CONTRACT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Two JSON files you own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7C3AED"/>
              </a:gs>
              <a:gs pos="100000">
                <a:srgbClr val="B692F5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835640" y="502920"/>
            <a:ext cx="685800" cy="685800"/>
          </a:xfrm>
          <a:prstGeom prst="ellipse">
            <a:avLst/>
          </a:prstGeom>
          <a:gradFill rotWithShape="1">
            <a:gsLst>
              <a:gs pos="0">
                <a:srgbClr val="7C3AED"/>
              </a:gs>
              <a:gs pos="100000">
                <a:srgbClr val="6D28D9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700" b="1">
                <a:solidFill>
                  <a:srgbClr val="FFFFFF"/>
                </a:solidFill>
                <a:latin typeface="Helvetica Neue"/>
              </a:defRPr>
            </a:pPr>
            <a: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11680"/>
            <a:ext cx="6309360" cy="3749039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64592"/>
          <a:lstStyle/>
          <a:p>
            <a:pPr algn="l">
              <a:lnSpc>
                <a:spcPct val="112000"/>
              </a:lnSpc>
              <a:defRPr sz="1400">
                <a:solidFill>
                  <a:srgbClr val="34D399"/>
                </a:solidFill>
                <a:latin typeface="Menlo"/>
              </a:defRPr>
            </a:pPr>
            <a:r>
              <a:t>agentcore.json</a:t>
            </a: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  <a:r>
              <a:t>{</a:t>
            </a: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  <a:r>
              <a:t>  "name": "aiauc01",</a:t>
            </a: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  <a:r>
              <a:t>  "managedBy": "CDK",</a:t>
            </a: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  <a:r>
              <a:t>  "runtimes": [{</a:t>
            </a: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  <a:r>
              <a:t>    "build": "CodeZip",</a:t>
            </a: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  <a:r>
              <a:t>    "entrypoint": "main.py",</a:t>
            </a: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  <a:r>
              <a:t>    "runtimeVersion": "PYTHON_3_13",</a:t>
            </a: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  <a:r>
              <a:t>    "envVars": [{ "name": "MODEL_ID",</a:t>
            </a: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  <a:r>
              <a:t>      "value": "deepseek.v3.2" }]</a:t>
            </a: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  <a:r>
              <a:t>  }]</a:t>
            </a:r>
          </a:p>
          <a:p>
            <a:pPr algn="l">
              <a:lnSpc>
                <a:spcPct val="112000"/>
              </a:lnSpc>
              <a:defRPr sz="1400">
                <a:solidFill>
                  <a:srgbClr val="94A3B8"/>
                </a:solidFill>
                <a:latin typeface="Menlo"/>
              </a:defRPr>
            </a:pPr>
            <a:r>
              <a:t>  ...15 arrays, all empty...</a:t>
            </a: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  <a:r>
              <a:t>}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0" y="2011680"/>
            <a:ext cx="4526280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132320" y="2011680"/>
            <a:ext cx="82296" cy="160020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52360" y="2194560"/>
            <a:ext cx="3931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400" b="1" i="0">
                <a:solidFill>
                  <a:srgbClr val="7C3AED"/>
                </a:solidFill>
                <a:latin typeface="Helvetica Neue"/>
              </a:defRPr>
            </a:pPr>
            <a:r>
              <a:t>aws-targets.json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52360" y="2606040"/>
            <a:ext cx="3931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defRPr sz="1250" b="0" i="0">
                <a:solidFill>
                  <a:srgbClr val="475569"/>
                </a:solidFill>
                <a:latin typeface="Menlo"/>
              </a:defRPr>
            </a:pPr>
            <a:r>
              <a:t>[{ "name": "default", "account": "...",</a:t>
            </a:r>
          </a:p>
          <a:p>
            <a:pPr algn="l">
              <a:lnSpc>
                <a:spcPct val="110000"/>
              </a:lnSpc>
              <a:defRPr sz="1250" b="0" i="0">
                <a:solidFill>
                  <a:srgbClr val="475569"/>
                </a:solidFill>
                <a:latin typeface="Menlo"/>
              </a:defRPr>
            </a:pPr>
            <a:r>
              <a:t>  "region": "us-east-1" }]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32320" y="3840480"/>
            <a:ext cx="4526280" cy="1920240"/>
          </a:xfrm>
          <a:prstGeom prst="roundRect">
            <a:avLst>
              <a:gd name="adj" fmla="val 8000"/>
            </a:avLst>
          </a:prstGeom>
          <a:solidFill>
            <a:srgbClr val="FFEDD5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52360" y="4023360"/>
            <a:ext cx="3977639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defRPr sz="1350" b="0" i="0">
                <a:solidFill>
                  <a:srgbClr val="0F172A"/>
                </a:solidFill>
                <a:latin typeface="Helvetica Neue"/>
              </a:defRPr>
            </a:pPr>
            <a:r>
              <a:t>create writes an empty array.</a:t>
            </a:r>
          </a:p>
          <a:p>
            <a:pPr algn="l">
              <a:lnSpc>
                <a:spcPct val="112000"/>
              </a:lnSpc>
              <a:defRPr sz="1350" b="0" i="0">
                <a:solidFill>
                  <a:srgbClr val="0F172A"/>
                </a:solidFill>
                <a:latin typeface="Helvetica Neue"/>
              </a:defRPr>
            </a:pPr>
            <a:r>
              <a:t>The first deploy calls STS</a:t>
            </a:r>
          </a:p>
          <a:p>
            <a:pPr algn="l">
              <a:lnSpc>
                <a:spcPct val="112000"/>
              </a:lnSpc>
              <a:defRPr sz="1350" b="0" i="0">
                <a:solidFill>
                  <a:srgbClr val="0F172A"/>
                </a:solidFill>
                <a:latin typeface="Helvetica Neue"/>
              </a:defRPr>
            </a:pPr>
            <a:r>
              <a:t>and fills account + region in.</a:t>
            </a:r>
          </a:p>
          <a:p>
            <a:pPr algn="l">
              <a:lnSpc>
                <a:spcPct val="112000"/>
              </a:lnSpc>
              <a:defRPr sz="1350" b="0" i="0">
                <a:solidFill>
                  <a:srgbClr val="0F172A"/>
                </a:solidFill>
                <a:latin typeface="Helvetica Neue"/>
              </a:defRPr>
            </a:pPr>
          </a:p>
          <a:p>
            <a:pPr algn="l">
              <a:lnSpc>
                <a:spcPct val="112000"/>
              </a:lnSpc>
              <a:defRPr sz="1350" b="0" i="0">
                <a:solidFill>
                  <a:srgbClr val="0F172A"/>
                </a:solidFill>
                <a:latin typeface="Helvetica Neue"/>
              </a:defRPr>
            </a:pPr>
            <a:r>
              <a:t>No --region flag exists.</a:t>
            </a:r>
          </a:p>
          <a:p>
            <a:pPr algn="l">
              <a:lnSpc>
                <a:spcPct val="112000"/>
              </a:lnSpc>
              <a:defRPr sz="1350" b="0" i="0">
                <a:solidFill>
                  <a:srgbClr val="0F172A"/>
                </a:solidFill>
                <a:latin typeface="Helvetica Neue"/>
              </a:defRPr>
            </a:pPr>
            <a:r>
              <a:t>The file is the only truth.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1897380" cy="310896"/>
          </a:xfrm>
          <a:prstGeom prst="roundRect">
            <a:avLst>
              <a:gd name="adj" fmla="val 50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STEP 3 · DEPLOY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One command, six steps, four cloud resources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EA580C"/>
              </a:gs>
              <a:gs pos="100000">
                <a:srgbClr val="F3A379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835640" y="502920"/>
            <a:ext cx="685800" cy="685800"/>
          </a:xfrm>
          <a:prstGeom prst="ellipse">
            <a:avLst/>
          </a:prstGeom>
          <a:gradFill rotWithShape="1">
            <a:gsLst>
              <a:gs pos="0">
                <a:srgbClr val="EA580C"/>
              </a:gs>
              <a:gs pos="100000">
                <a:srgbClr val="EA580C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700" b="1">
                <a:solidFill>
                  <a:srgbClr val="FFFFFF"/>
                </a:solidFill>
                <a:latin typeface="Helvetica Neue"/>
              </a:defRPr>
            </a:pPr>
            <a:r>
              <a:t>3</a:t>
            </a:r>
          </a:p>
        </p:txBody>
      </p:sp>
      <p:pic>
        <p:nvPicPr>
          <p:cNvPr id="6" name="Picture 5" descr="F4-deploy-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4680" y="1920240"/>
            <a:ext cx="6492240" cy="385927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1897380" cy="310896"/>
          </a:xfrm>
          <a:prstGeom prst="roundRect">
            <a:avLst>
              <a:gd name="adj" fmla="val 50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STEP 3 · DEPLOY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What success looks like (cold account)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EA580C"/>
              </a:gs>
              <a:gs pos="100000">
                <a:srgbClr val="F3A379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966960" y="1481328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▶ LIVE DEMO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11680"/>
            <a:ext cx="11109960" cy="379476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64592"/>
          <a:lstStyle/>
          <a:p>
            <a:pPr algn="l">
              <a:lnSpc>
                <a:spcPct val="112000"/>
              </a:lnSpc>
              <a:defRPr sz="1500">
                <a:solidFill>
                  <a:srgbClr val="34D399"/>
                </a:solidFill>
                <a:latin typeface="Menlo"/>
              </a:defRPr>
            </a:pPr>
            <a:r>
              <a:t>$ agentcore deploy -y --target default</a:t>
            </a:r>
          </a:p>
          <a:p>
            <a:pPr algn="l">
              <a:lnSpc>
                <a:spcPct val="112000"/>
              </a:lnSpc>
              <a:defRPr sz="1500">
                <a:solidFill>
                  <a:srgbClr val="E2E8F0"/>
                </a:solidFill>
                <a:latin typeface="Menlo"/>
              </a:defRPr>
            </a:pPr>
            <a:r>
              <a:t>✓ Load deployment target</a:t>
            </a:r>
          </a:p>
          <a:p>
            <a:pPr algn="l">
              <a:lnSpc>
                <a:spcPct val="112000"/>
              </a:lnSpc>
              <a:defRPr sz="1500">
                <a:solidFill>
                  <a:srgbClr val="E2E8F0"/>
                </a:solidFill>
                <a:latin typeface="Menlo"/>
              </a:defRPr>
            </a:pPr>
            <a:r>
              <a:t>✓ Validate project</a:t>
            </a:r>
          </a:p>
          <a:p>
            <a:pPr algn="l">
              <a:lnSpc>
                <a:spcPct val="112000"/>
              </a:lnSpc>
              <a:defRPr sz="1500">
                <a:solidFill>
                  <a:srgbClr val="E2E8F0"/>
                </a:solidFill>
                <a:latin typeface="Menlo"/>
              </a:defRPr>
            </a:pPr>
            <a:r>
              <a:t>✓ Sync CDK dependencies</a:t>
            </a:r>
          </a:p>
          <a:p>
            <a:pPr algn="l">
              <a:lnSpc>
                <a:spcPct val="112000"/>
              </a:lnSpc>
              <a:defRPr sz="1500">
                <a:solidFill>
                  <a:srgbClr val="E2E8F0"/>
                </a:solidFill>
                <a:latin typeface="Menlo"/>
              </a:defRPr>
            </a:pPr>
            <a:r>
              <a:t>✓ Build CDK project</a:t>
            </a:r>
          </a:p>
          <a:p>
            <a:pPr algn="l">
              <a:lnSpc>
                <a:spcPct val="112000"/>
              </a:lnSpc>
              <a:defRPr sz="1500">
                <a:solidFill>
                  <a:srgbClr val="E2E8F0"/>
                </a:solidFill>
                <a:latin typeface="Menlo"/>
              </a:defRPr>
            </a:pPr>
            <a:r>
              <a:t>✓ Synthesize CloudFormation</a:t>
            </a:r>
          </a:p>
          <a:p>
            <a:pPr algn="l">
              <a:lnSpc>
                <a:spcPct val="112000"/>
              </a:lnSpc>
              <a:defRPr sz="1500">
                <a:solidFill>
                  <a:srgbClr val="E2E8F0"/>
                </a:solidFill>
                <a:latin typeface="Menlo"/>
              </a:defRPr>
            </a:pPr>
            <a:r>
              <a:t>✓ Deploy to AWS</a:t>
            </a:r>
          </a:p>
          <a:p>
            <a:pPr algn="l">
              <a:lnSpc>
                <a:spcPct val="112000"/>
              </a:lnSpc>
              <a:defRPr sz="1500">
                <a:solidFill>
                  <a:srgbClr val="E2E8F0"/>
                </a:solidFill>
                <a:latin typeface="Menlo"/>
              </a:defRPr>
            </a:pPr>
            <a:r>
              <a:t>✓ Deployed to 'default' (stack: AgentCore-aiauc01-default)</a:t>
            </a:r>
          </a:p>
          <a:p>
            <a:pPr algn="l">
              <a:lnSpc>
                <a:spcPct val="112000"/>
              </a:lnSpc>
              <a:defRPr sz="1500">
                <a:solidFill>
                  <a:srgbClr val="93C5FD"/>
                </a:solidFill>
                <a:latin typeface="Menlo"/>
              </a:defRPr>
            </a:pPr>
            <a:r>
              <a:t>  Runtime ARN: arn:aws:bedrock-agentcore:us-east-1:123456789012:</a:t>
            </a:r>
          </a:p>
          <a:p>
            <a:pPr algn="l">
              <a:lnSpc>
                <a:spcPct val="112000"/>
              </a:lnSpc>
              <a:defRPr sz="1500">
                <a:solidFill>
                  <a:srgbClr val="93C5FD"/>
                </a:solidFill>
                <a:latin typeface="Menlo"/>
              </a:defRPr>
            </a:pPr>
            <a:r>
              <a:t>               runtime/aiauc01_aia_uc01-LH8zQV86C2</a:t>
            </a:r>
          </a:p>
          <a:p>
            <a:pPr algn="l">
              <a:lnSpc>
                <a:spcPct val="112000"/>
              </a:lnSpc>
              <a:defRPr sz="1500">
                <a:solidFill>
                  <a:srgbClr val="E2E8F0"/>
                </a:solidFill>
                <a:latin typeface="Menlo"/>
              </a:defRPr>
            </a:pPr>
          </a:p>
          <a:p>
            <a:pPr algn="l">
              <a:lnSpc>
                <a:spcPct val="112000"/>
              </a:lnSpc>
              <a:defRPr sz="1500">
                <a:solidFill>
                  <a:srgbClr val="94A3B8"/>
                </a:solidFill>
                <a:latin typeface="Menlo"/>
              </a:defRPr>
            </a:pPr>
            <a:r>
              <a:t># cold: 9 min 49 s   ·   code-only redeploy: 26 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1581912" cy="31089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SCHEMA-FIRST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cdk/ is a compiler. agentcore.json is the program.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7C3AED"/>
              </a:gs>
              <a:gs pos="100000">
                <a:srgbClr val="B692F5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011680"/>
            <a:ext cx="7040880" cy="274320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64592"/>
          <a:lstStyle/>
          <a:p>
            <a:pPr algn="l">
              <a:lnSpc>
                <a:spcPct val="112000"/>
              </a:lnSpc>
              <a:defRPr sz="1400">
                <a:solidFill>
                  <a:srgbClr val="94A3B8"/>
                </a:solidFill>
                <a:latin typeface="Menlo"/>
              </a:defRPr>
            </a:pPr>
            <a:r>
              <a:t>// agentcore/cdk/bin/cdk.ts (generated)</a:t>
            </a: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  <a:r>
              <a:t>const configRoot = path.resolve(process.cwd(), '..');</a:t>
            </a: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  <a:r>
              <a:t>const configIO = new ConfigIO({ baseDir: configRoot });</a:t>
            </a: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  <a:r>
              <a:t>const spec    = await configIO.readProjectSpec();</a:t>
            </a: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  <a:r>
              <a:t>const targets = await configIO.readAWSDeploymentTargets();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029200"/>
            <a:ext cx="70408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defRPr sz="1400" b="0" i="0">
                <a:solidFill>
                  <a:srgbClr val="475569"/>
                </a:solidFill>
                <a:latin typeface="Helvetica Neue"/>
              </a:defRPr>
            </a:pPr>
            <a:r>
              <a:t>Zero hard-coded names in the generated project (grepped).</a:t>
            </a:r>
          </a:p>
          <a:p>
            <a:pPr algn="l">
              <a:lnSpc>
                <a:spcPct val="115000"/>
              </a:lnSpc>
              <a:defRPr sz="1400" b="0" i="0">
                <a:solidFill>
                  <a:srgbClr val="475569"/>
                </a:solidFill>
                <a:latin typeface="Helvetica Neue"/>
              </a:defRPr>
            </a:pPr>
            <a:r>
              <a:t>Stack name = AgentCore-&lt;projectName&gt;-&lt;targetName&gt;, both from the JSON.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2011680"/>
            <a:ext cx="3703320" cy="3749039"/>
          </a:xfrm>
          <a:prstGeom prst="roundRect">
            <a:avLst>
              <a:gd name="adj" fmla="val 7000"/>
            </a:avLst>
          </a:prstGeom>
          <a:solidFill>
            <a:srgbClr val="EDE9FE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955279" y="2011680"/>
            <a:ext cx="82296" cy="3749039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75320" y="2286000"/>
            <a:ext cx="310896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0F172A"/>
                </a:solidFill>
                <a:latin typeface="Helvetica Neue"/>
              </a:defRPr>
            </a:pPr>
            <a:r>
              <a:t>Same TypeScript,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0F172A"/>
                </a:solidFill>
                <a:latin typeface="Helvetica Neue"/>
              </a:defRPr>
            </a:pPr>
            <a:r>
              <a:t>different JSON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0F172A"/>
                </a:solidFill>
                <a:latin typeface="Helvetica Neue"/>
              </a:defRPr>
            </a:pPr>
            <a:r>
              <a:t>→ different stack.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0F172A"/>
                </a:solidFill>
                <a:latin typeface="Helvetica Neue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0F172A"/>
                </a:solidFill>
                <a:latin typeface="Helvetica Neue"/>
              </a:defRPr>
            </a:pPr>
            <a:r>
              <a:t>Change the schema,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0F172A"/>
                </a:solidFill>
                <a:latin typeface="Helvetica Neue"/>
              </a:defRPr>
            </a:pPr>
            <a:r>
              <a:t>not the plumbing.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0F172A"/>
                </a:solidFill>
                <a:latin typeface="Helvetica Neue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0F172A"/>
                </a:solidFill>
                <a:latin typeface="Helvetica Neue"/>
              </a:defRPr>
            </a:pPr>
            <a:r>
              <a:t>That is what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0F172A"/>
                </a:solidFill>
                <a:latin typeface="Helvetica Neue"/>
              </a:defRPr>
            </a:pPr>
            <a:r>
              <a:t>schema-first means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0F172A"/>
                </a:solidFill>
                <a:latin typeface="Helvetica Neue"/>
              </a:defRPr>
            </a:pPr>
            <a:r>
              <a:t>in practice.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2738628" cy="310896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STEP 4 · RUN IT LOCALLY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Same app, same routes, no deployment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0D9488"/>
              </a:gs>
              <a:gs pos="100000">
                <a:srgbClr val="79C4B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835640" y="502920"/>
            <a:ext cx="685800" cy="685800"/>
          </a:xfrm>
          <a:prstGeom prst="ellipse">
            <a:avLst/>
          </a:prstGeom>
          <a:gradFill rotWithShape="1">
            <a:gsLst>
              <a:gs pos="0">
                <a:srgbClr val="0D9488"/>
              </a:gs>
              <a:gs pos="100000">
                <a:srgbClr val="0F766E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700" b="1">
                <a:solidFill>
                  <a:srgbClr val="FFFFFF"/>
                </a:solidFill>
                <a:latin typeface="Helvetica Neue"/>
              </a:defRPr>
            </a:pPr>
            <a: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66760" y="1481328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▶ LIVE DEMO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011680"/>
            <a:ext cx="6035040" cy="219456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64592"/>
          <a:lstStyle/>
          <a:p>
            <a:pPr algn="l">
              <a:lnSpc>
                <a:spcPct val="112000"/>
              </a:lnSpc>
              <a:defRPr sz="1400">
                <a:solidFill>
                  <a:srgbClr val="34D399"/>
                </a:solidFill>
                <a:latin typeface="Menlo"/>
              </a:defRPr>
            </a:pPr>
            <a:r>
              <a:t>$ agentcore dev</a:t>
            </a: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  <a:r>
              <a:t>Server: http://localhost:8080/invocations</a:t>
            </a:r>
          </a:p>
          <a:p>
            <a:pPr algn="l">
              <a:lnSpc>
                <a:spcPct val="112000"/>
              </a:lnSpc>
              <a:defRPr sz="1400">
                <a:solidFill>
                  <a:srgbClr val="94A3B8"/>
                </a:solidFill>
                <a:latin typeface="Menlo"/>
              </a:defRPr>
            </a:pPr>
            <a:r>
              <a:t>(GET /ping + POST /invocations - same two routes)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434840"/>
            <a:ext cx="6035040" cy="137160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64592"/>
          <a:lstStyle/>
          <a:p>
            <a:pPr algn="l">
              <a:lnSpc>
                <a:spcPct val="112000"/>
              </a:lnSpc>
              <a:defRPr sz="1300">
                <a:solidFill>
                  <a:srgbClr val="34D399"/>
                </a:solidFill>
                <a:latin typeface="Menlo"/>
              </a:defRPr>
            </a:pPr>
            <a:r>
              <a:t>$ curl -s -X POST localhost:8080/invocations \</a:t>
            </a:r>
          </a:p>
          <a:p>
            <a:pPr algn="l">
              <a:lnSpc>
                <a:spcPct val="112000"/>
              </a:lnSpc>
              <a:defRPr sz="1300">
                <a:solidFill>
                  <a:srgbClr val="E2E8F0"/>
                </a:solidFill>
                <a:latin typeface="Menlo"/>
              </a:defRPr>
            </a:pPr>
            <a:r>
              <a:t>   -d '{"prompt":"What is 128 plus 256?"}'</a:t>
            </a:r>
          </a:p>
          <a:p>
            <a:pPr algn="l">
              <a:lnSpc>
                <a:spcPct val="112000"/>
              </a:lnSpc>
              <a:defRPr sz="1300">
                <a:solidFill>
                  <a:srgbClr val="93C5FD"/>
                </a:solidFill>
                <a:latin typeface="Menlo"/>
              </a:defRPr>
            </a:pPr>
            <a:r>
              <a:t>→ SSE stream, toolUse add_numbers, answer 384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2286000"/>
            <a:ext cx="466344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defRPr sz="1600" b="0" i="0">
                <a:solidFill>
                  <a:srgbClr val="475569"/>
                </a:solidFill>
                <a:latin typeface="Helvetica Neue"/>
              </a:defRPr>
            </a:pPr>
            <a:r>
              <a:t>Uvicorn + hot reload.</a:t>
            </a:r>
          </a:p>
          <a:p>
            <a:pPr algn="l">
              <a:lnSpc>
                <a:spcPct val="125000"/>
              </a:lnSpc>
              <a:defRPr sz="1600" b="0" i="0">
                <a:solidFill>
                  <a:srgbClr val="475569"/>
                </a:solidFill>
                <a:latin typeface="Helvetica Neue"/>
              </a:defRPr>
            </a:pPr>
            <a:r>
              <a:t>Model calls still go to Bedrock:</a:t>
            </a:r>
          </a:p>
          <a:p>
            <a:pPr algn="l">
              <a:lnSpc>
                <a:spcPct val="125000"/>
              </a:lnSpc>
              <a:defRPr sz="1600" b="0" i="0">
                <a:solidFill>
                  <a:srgbClr val="475569"/>
                </a:solidFill>
                <a:latin typeface="Helvetica Neue"/>
              </a:defRPr>
            </a:pPr>
            <a:r>
              <a:t>credentials needed, deployment not.</a:t>
            </a:r>
          </a:p>
          <a:p>
            <a:pPr algn="l">
              <a:lnSpc>
                <a:spcPct val="125000"/>
              </a:lnSpc>
              <a:defRPr sz="1600" b="0" i="0">
                <a:solidFill>
                  <a:srgbClr val="475569"/>
                </a:solidFill>
                <a:latin typeface="Helvetica Neue"/>
              </a:defRPr>
            </a:pPr>
          </a:p>
          <a:p>
            <a:pPr algn="l">
              <a:lnSpc>
                <a:spcPct val="125000"/>
              </a:lnSpc>
              <a:defRPr sz="1600" b="0" i="0">
                <a:solidFill>
                  <a:srgbClr val="475569"/>
                </a:solidFill>
                <a:latin typeface="Helvetica Neue"/>
              </a:defRPr>
            </a:pPr>
            <a:r>
              <a:t>Edit main.py while it runs:</a:t>
            </a:r>
          </a:p>
          <a:p>
            <a:pPr algn="l">
              <a:lnSpc>
                <a:spcPct val="125000"/>
              </a:lnSpc>
              <a:defRPr sz="1600" b="0" i="0">
                <a:solidFill>
                  <a:srgbClr val="475569"/>
                </a:solidFill>
                <a:latin typeface="Helvetica Neue"/>
              </a:defRPr>
            </a:pPr>
            <a:r>
              <a:t>the reloader picks it up</a:t>
            </a:r>
          </a:p>
          <a:p>
            <a:pPr algn="l">
              <a:lnSpc>
                <a:spcPct val="125000"/>
              </a:lnSpc>
              <a:defRPr sz="1600" b="0" i="0">
                <a:solidFill>
                  <a:srgbClr val="475569"/>
                </a:solidFill>
                <a:latin typeface="Helvetica Neue"/>
              </a:defRPr>
            </a:pPr>
            <a:r>
              <a:t>without a restart.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1897380" cy="31089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STEP 5 · INVOKE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The deployed runtime answers through the data plane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059669"/>
              </a:gs>
              <a:gs pos="100000">
                <a:srgbClr val="75C5AC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835640" y="502920"/>
            <a:ext cx="685800" cy="685800"/>
          </a:xfrm>
          <a:prstGeom prst="ellipse">
            <a:avLst/>
          </a:prstGeom>
          <a:gradFill rotWithShape="1">
            <a:gsLst>
              <a:gs pos="0">
                <a:srgbClr val="059669"/>
              </a:gs>
              <a:gs pos="100000">
                <a:srgbClr val="047857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700" b="1">
                <a:solidFill>
                  <a:srgbClr val="FFFFFF"/>
                </a:solidFill>
                <a:latin typeface="Helvetica Neue"/>
              </a:defRPr>
            </a:pPr>
            <a: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66760" y="1481328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▶ LIVE DEMO</a:t>
            </a:r>
          </a:p>
        </p:txBody>
      </p:sp>
      <p:pic>
        <p:nvPicPr>
          <p:cNvPr id="7" name="Picture 6" descr="F5-one-surf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0" y="1965960"/>
            <a:ext cx="5852160" cy="4116832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740664" cy="31089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COST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One invoke costs about $0.0009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059669"/>
              </a:gs>
              <a:gs pos="100000">
                <a:srgbClr val="75C5AC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103120"/>
            <a:ext cx="3520440" cy="3200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2103120"/>
            <a:ext cx="82296" cy="32004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468880"/>
            <a:ext cx="2971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2563EB"/>
                </a:solidFill>
                <a:latin typeface="Helvetica Neue"/>
              </a:defRPr>
            </a:pPr>
            <a:r>
              <a:t>$0.0007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383280"/>
            <a:ext cx="2971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400" b="1" i="0">
                <a:solidFill>
                  <a:srgbClr val="0F172A"/>
                </a:solidFill>
                <a:latin typeface="Helvetica Neue"/>
              </a:defRPr>
            </a:pPr>
            <a:r>
              <a:t>model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3840480"/>
            <a:ext cx="29718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defRPr sz="1250" b="0" i="0">
                <a:solidFill>
                  <a:srgbClr val="475569"/>
                </a:solidFill>
                <a:latin typeface="Helvetica Neue"/>
              </a:defRPr>
            </a:pPr>
            <a:r>
              <a:t>846 in + 82 out</a:t>
            </a:r>
          </a:p>
          <a:p>
            <a:pPr algn="l">
              <a:lnSpc>
                <a:spcPct val="115000"/>
              </a:lnSpc>
              <a:defRPr sz="1250" b="0" i="0">
                <a:solidFill>
                  <a:srgbClr val="475569"/>
                </a:solidFill>
                <a:latin typeface="Helvetica Neue"/>
              </a:defRPr>
            </a:pPr>
            <a:r>
              <a:t>deepseek.v3.2 @$0.62/$1.85 per 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2103120"/>
            <a:ext cx="3520440" cy="3200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43400" y="2103120"/>
            <a:ext cx="82296" cy="3200400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17720" y="2468880"/>
            <a:ext cx="2971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D9488"/>
                </a:solidFill>
                <a:latin typeface="Helvetica Neue"/>
              </a:defRPr>
            </a:pPr>
            <a:r>
              <a:t>$0.0002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3383280"/>
            <a:ext cx="2971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400" b="1" i="0">
                <a:solidFill>
                  <a:srgbClr val="0F172A"/>
                </a:solidFill>
                <a:latin typeface="Helvetica Neue"/>
              </a:defRPr>
            </a:pPr>
            <a:r>
              <a:t>runtime compute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3840480"/>
            <a:ext cx="29718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defRPr sz="1250" b="0" i="0">
                <a:solidFill>
                  <a:srgbClr val="475569"/>
                </a:solidFill>
                <a:latin typeface="Helvetica Neue"/>
              </a:defRPr>
            </a:pPr>
            <a:r>
              <a:t>≈ 7 s active compute</a:t>
            </a:r>
          </a:p>
          <a:p>
            <a:pPr algn="l">
              <a:lnSpc>
                <a:spcPct val="115000"/>
              </a:lnSpc>
              <a:defRPr sz="1250" b="0" i="0">
                <a:solidFill>
                  <a:srgbClr val="475569"/>
                </a:solidFill>
                <a:latin typeface="Helvetica Neue"/>
              </a:defRPr>
            </a:pPr>
            <a:r>
              <a:t>idle sessions are free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2103120"/>
            <a:ext cx="3520440" cy="3200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138160" y="2103120"/>
            <a:ext cx="82296" cy="3200400"/>
          </a:xfrm>
          <a:prstGeom prst="roundRect">
            <a:avLst>
              <a:gd name="adj" fmla="val 50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2468880"/>
            <a:ext cx="2971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EA580C"/>
                </a:solidFill>
                <a:latin typeface="Helvetica Neue"/>
              </a:defRPr>
            </a:pPr>
            <a:r>
              <a:t>9m49s / 26s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3383280"/>
            <a:ext cx="2971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400" b="1" i="0">
                <a:solidFill>
                  <a:srgbClr val="0F172A"/>
                </a:solidFill>
                <a:latin typeface="Helvetica Neue"/>
              </a:defRPr>
            </a:pPr>
            <a:r>
              <a:t>first deploy / redeploy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3840480"/>
            <a:ext cx="29718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defRPr sz="1250" b="0" i="0">
                <a:solidFill>
                  <a:srgbClr val="475569"/>
                </a:solidFill>
                <a:latin typeface="Helvetica Neue"/>
              </a:defRPr>
            </a:pPr>
            <a:r>
              <a:t>cold = npm install (221 pkgs)</a:t>
            </a:r>
          </a:p>
          <a:p>
            <a:pPr algn="l">
              <a:lnSpc>
                <a:spcPct val="115000"/>
              </a:lnSpc>
              <a:defRPr sz="1250" b="0" i="0">
                <a:solidFill>
                  <a:srgbClr val="475569"/>
                </a:solidFill>
                <a:latin typeface="Helvetica Neue"/>
              </a:defRPr>
            </a:pPr>
            <a:r>
              <a:t>warm = asset hash only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62356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defRPr sz="1500" b="1" i="0">
                <a:solidFill>
                  <a:srgbClr val="0F172A"/>
                </a:solidFill>
                <a:latin typeface="Helvetica Neue"/>
              </a:defRPr>
            </a:pPr>
            <a:r>
              <a:t>The infrastructure bill rounds to zero. The engineering cost is reading the trace.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F172A"/>
            </a:gs>
            <a:gs pos="100000">
              <a:srgbClr val="1E3A8A"/>
            </a:gs>
          </a:gsLst>
          <a:lin scaled="0" ang="147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gradFill rotWithShape="1">
            <a:gsLst>
              <a:gs pos="0">
                <a:srgbClr val="2563EB"/>
              </a:gs>
              <a:gs pos="100000">
                <a:srgbClr val="7C3AE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9260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95000"/>
              </a:lnSpc>
              <a:defRPr sz="5400" b="1" i="0">
                <a:solidFill>
                  <a:srgbClr val="FFFFFF"/>
                </a:solidFill>
                <a:latin typeface="Helvetica Neue"/>
              </a:defRPr>
            </a:pPr>
            <a:r>
              <a:t>ACT</a:t>
            </a:r>
          </a:p>
          <a:p>
            <a:pPr algn="l">
              <a:lnSpc>
                <a:spcPct val="95000"/>
              </a:lnSpc>
              <a:defRPr sz="5400" b="1" i="0">
                <a:solidFill>
                  <a:srgbClr val="FFFFFF"/>
                </a:solidFill>
                <a:latin typeface="Helvetica Neue"/>
              </a:defRPr>
            </a:pPr>
            <a:r>
              <a:t>III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3154680"/>
            <a:ext cx="1188720" cy="82296"/>
          </a:xfrm>
          <a:prstGeom prst="rect">
            <a:avLst/>
          </a:prstGeom>
          <a:gradFill rotWithShape="1">
            <a:gsLst>
              <a:gs pos="0">
                <a:srgbClr val="059669"/>
              </a:gs>
              <a:gs pos="100000">
                <a:srgbClr val="75C5AC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5943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200" b="1" i="0">
                <a:solidFill>
                  <a:srgbClr val="FFFFFF"/>
                </a:solidFill>
                <a:latin typeface="Helvetica Neue"/>
              </a:defRPr>
            </a:pPr>
            <a:r>
              <a:t>See through 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554480"/>
            <a:ext cx="5303520" cy="804672"/>
          </a:xfrm>
          <a:prstGeom prst="roundRect">
            <a:avLst>
              <a:gd name="adj" fmla="val 14000"/>
            </a:avLst>
          </a:prstGeom>
          <a:solidFill>
            <a:srgbClr val="1B2A4A"/>
          </a:solidFill>
          <a:ln w="12700">
            <a:solidFill>
              <a:srgbClr val="2A3E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59" y="1664207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500" b="1" i="0">
                <a:solidFill>
                  <a:srgbClr val="FFFFFF"/>
                </a:solidFill>
                <a:latin typeface="Helvetica Neue"/>
              </a:defRPr>
            </a:pPr>
            <a:r>
              <a:t>The HTTP contract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59" y="1993391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150" b="0" i="0">
                <a:solidFill>
                  <a:srgbClr val="93C5FD"/>
                </a:solidFill>
                <a:latin typeface="Helvetica Neue"/>
              </a:defRPr>
            </a:pPr>
            <a:r>
              <a:t>two requests, an async generator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2523744"/>
            <a:ext cx="5303520" cy="804672"/>
          </a:xfrm>
          <a:prstGeom prst="roundRect">
            <a:avLst>
              <a:gd name="adj" fmla="val 14000"/>
            </a:avLst>
          </a:prstGeom>
          <a:solidFill>
            <a:srgbClr val="1B2A4A"/>
          </a:solidFill>
          <a:ln w="12700">
            <a:solidFill>
              <a:srgbClr val="2A3E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59" y="2633472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500" b="1" i="0">
                <a:solidFill>
                  <a:srgbClr val="FFFFFF"/>
                </a:solidFill>
                <a:latin typeface="Helvetica Neue"/>
              </a:defRPr>
            </a:pPr>
            <a:r>
              <a:t>The trace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59" y="2962656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150" b="0" i="0">
                <a:solidFill>
                  <a:srgbClr val="93C5FD"/>
                </a:solidFill>
                <a:latin typeface="Helvetica Neue"/>
              </a:defRPr>
            </a:pPr>
            <a:r>
              <a:t>what observability records, and when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3493008"/>
            <a:ext cx="5303520" cy="804672"/>
          </a:xfrm>
          <a:prstGeom prst="roundRect">
            <a:avLst>
              <a:gd name="adj" fmla="val 14000"/>
            </a:avLst>
          </a:prstGeom>
          <a:solidFill>
            <a:srgbClr val="1B2A4A"/>
          </a:solidFill>
          <a:ln w="12700">
            <a:solidFill>
              <a:srgbClr val="2A3E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59" y="3602736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500" b="1" i="0">
                <a:solidFill>
                  <a:srgbClr val="FFFFFF"/>
                </a:solidFill>
                <a:latin typeface="Helvetica Neue"/>
              </a:defRPr>
            </a:pPr>
            <a:r>
              <a:t>Four failures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59" y="3931920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150" b="0" i="0">
                <a:solidFill>
                  <a:srgbClr val="93C5FD"/>
                </a:solidFill>
                <a:latin typeface="Helvetica Neue"/>
              </a:defRPr>
            </a:pPr>
            <a:r>
              <a:t>and what each one taught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35040" y="4462272"/>
            <a:ext cx="5303520" cy="804672"/>
          </a:xfrm>
          <a:prstGeom prst="roundRect">
            <a:avLst>
              <a:gd name="adj" fmla="val 14000"/>
            </a:avLst>
          </a:prstGeom>
          <a:solidFill>
            <a:srgbClr val="1B2A4A"/>
          </a:solidFill>
          <a:ln w="12700">
            <a:solidFill>
              <a:srgbClr val="2A3E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59" y="457200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500" b="1" i="0">
                <a:solidFill>
                  <a:srgbClr val="FFFFFF"/>
                </a:solidFill>
                <a:latin typeface="Helvetica Neue"/>
              </a:defRPr>
            </a:pPr>
            <a:r>
              <a:t>Takeaways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4901183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150" b="0" i="0">
                <a:solidFill>
                  <a:srgbClr val="93C5FD"/>
                </a:solidFill>
                <a:latin typeface="Helvetica Neue"/>
              </a:defRPr>
            </a:pPr>
            <a:r>
              <a:t>four sentences to keep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2002536" cy="31089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UNDER THE HOOD 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Two requests. That is the whole platform contract.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2563EB"/>
              </a:gs>
              <a:gs pos="100000">
                <a:srgbClr val="87A9F4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011680"/>
            <a:ext cx="6858000" cy="3749039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64592"/>
          <a:lstStyle/>
          <a:p>
            <a:pPr algn="l">
              <a:lnSpc>
                <a:spcPct val="112000"/>
              </a:lnSpc>
              <a:defRPr sz="1500">
                <a:solidFill>
                  <a:srgbClr val="E2E8F0"/>
                </a:solidFill>
                <a:latin typeface="Menlo"/>
              </a:defRPr>
            </a:pPr>
            <a:r>
              <a:t>@app.entrypoint</a:t>
            </a:r>
          </a:p>
          <a:p>
            <a:pPr algn="l">
              <a:lnSpc>
                <a:spcPct val="112000"/>
              </a:lnSpc>
              <a:defRPr sz="1500">
                <a:solidFill>
                  <a:srgbClr val="E2E8F0"/>
                </a:solidFill>
                <a:latin typeface="Menlo"/>
              </a:defRPr>
            </a:pPr>
            <a:r>
              <a:t>async def invoke(payload, context):</a:t>
            </a:r>
          </a:p>
          <a:p>
            <a:pPr algn="l">
              <a:lnSpc>
                <a:spcPct val="112000"/>
              </a:lnSpc>
              <a:defRPr sz="1500">
                <a:solidFill>
                  <a:srgbClr val="E2E8F0"/>
                </a:solidFill>
                <a:latin typeface="Menlo"/>
              </a:defRPr>
            </a:pPr>
            <a:r>
              <a:t>    session_id = getattr(</a:t>
            </a:r>
          </a:p>
          <a:p>
            <a:pPr algn="l">
              <a:lnSpc>
                <a:spcPct val="112000"/>
              </a:lnSpc>
              <a:defRPr sz="1500">
                <a:solidFill>
                  <a:srgbClr val="E2E8F0"/>
                </a:solidFill>
                <a:latin typeface="Menlo"/>
              </a:defRPr>
            </a:pPr>
            <a:r>
              <a:t>        context, "session_id", "default-session")</a:t>
            </a:r>
          </a:p>
          <a:p>
            <a:pPr algn="l">
              <a:lnSpc>
                <a:spcPct val="112000"/>
              </a:lnSpc>
              <a:defRPr sz="1500">
                <a:solidFill>
                  <a:srgbClr val="E2E8F0"/>
                </a:solidFill>
                <a:latin typeface="Menlo"/>
              </a:defRPr>
            </a:pPr>
            <a:r>
              <a:t>    agent = get_or_create_agent(session_id)</a:t>
            </a:r>
          </a:p>
          <a:p>
            <a:pPr algn="l">
              <a:lnSpc>
                <a:spcPct val="112000"/>
              </a:lnSpc>
              <a:defRPr sz="1500">
                <a:solidFill>
                  <a:srgbClr val="E2E8F0"/>
                </a:solidFill>
                <a:latin typeface="Menlo"/>
              </a:defRPr>
            </a:pPr>
            <a:r>
              <a:t>    async for event in agent.stream_async(prompt):</a:t>
            </a:r>
          </a:p>
          <a:p>
            <a:pPr algn="l">
              <a:lnSpc>
                <a:spcPct val="112000"/>
              </a:lnSpc>
              <a:defRPr sz="1500">
                <a:solidFill>
                  <a:srgbClr val="E2E8F0"/>
                </a:solidFill>
                <a:latin typeface="Menlo"/>
              </a:defRPr>
            </a:pPr>
            <a:r>
              <a:t>        yield event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0" y="2011680"/>
            <a:ext cx="3886200" cy="3749039"/>
          </a:xfrm>
          <a:prstGeom prst="roundRect">
            <a:avLst>
              <a:gd name="adj" fmla="val 7000"/>
            </a:avLst>
          </a:prstGeom>
          <a:solidFill>
            <a:srgbClr val="DBEAFE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0" y="2011680"/>
            <a:ext cx="82296" cy="3749039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92440" y="2286000"/>
            <a:ext cx="3291840" cy="3383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  <a:defRPr sz="1450" b="0" i="0">
                <a:solidFill>
                  <a:srgbClr val="0F172A"/>
                </a:solidFill>
                <a:latin typeface="Helvetica Neue"/>
              </a:defRPr>
            </a:pPr>
            <a:r>
              <a:t>GET  /ping</a:t>
            </a:r>
          </a:p>
          <a:p>
            <a:pPr algn="l">
              <a:lnSpc>
                <a:spcPct val="118000"/>
              </a:lnSpc>
              <a:defRPr sz="1450" b="0" i="0">
                <a:solidFill>
                  <a:srgbClr val="0F172A"/>
                </a:solidFill>
                <a:latin typeface="Helvetica Neue"/>
              </a:defRPr>
            </a:pPr>
            <a:r>
              <a:t>POST /invocations</a:t>
            </a:r>
          </a:p>
          <a:p>
            <a:pPr algn="l">
              <a:lnSpc>
                <a:spcPct val="118000"/>
              </a:lnSpc>
              <a:defRPr sz="1450" b="0" i="0">
                <a:solidFill>
                  <a:srgbClr val="0F172A"/>
                </a:solidFill>
                <a:latin typeface="Helvetica Neue"/>
              </a:defRPr>
            </a:pPr>
          </a:p>
          <a:p>
            <a:pPr algn="l">
              <a:lnSpc>
                <a:spcPct val="118000"/>
              </a:lnSpc>
              <a:defRPr sz="1450" b="0" i="0">
                <a:solidFill>
                  <a:srgbClr val="0F172A"/>
                </a:solidFill>
                <a:latin typeface="Helvetica Neue"/>
              </a:defRPr>
            </a:pPr>
            <a:r>
              <a:t>yield → one SSE event</a:t>
            </a:r>
          </a:p>
          <a:p>
            <a:pPr algn="l">
              <a:lnSpc>
                <a:spcPct val="118000"/>
              </a:lnSpc>
              <a:defRPr sz="1450" b="0" i="0">
                <a:solidFill>
                  <a:srgbClr val="0F172A"/>
                </a:solidFill>
                <a:latin typeface="Helvetica Neue"/>
              </a:defRPr>
            </a:pPr>
          </a:p>
          <a:p>
            <a:pPr algn="l">
              <a:lnSpc>
                <a:spcPct val="118000"/>
              </a:lnSpc>
              <a:defRPr sz="1450" b="0" i="0">
                <a:solidFill>
                  <a:srgbClr val="0F172A"/>
                </a:solidFill>
                <a:latin typeface="Helvetica Neue"/>
              </a:defRPr>
            </a:pPr>
            <a:r>
              <a:t>session_id = your</a:t>
            </a:r>
          </a:p>
          <a:p>
            <a:pPr algn="l">
              <a:lnSpc>
                <a:spcPct val="118000"/>
              </a:lnSpc>
              <a:defRPr sz="1450" b="0" i="0">
                <a:solidFill>
                  <a:srgbClr val="0F172A"/>
                </a:solidFill>
                <a:latin typeface="Helvetica Neue"/>
              </a:defRPr>
            </a:pPr>
            <a:r>
              <a:t>state key. The platform</a:t>
            </a:r>
          </a:p>
          <a:p>
            <a:pPr algn="l">
              <a:lnSpc>
                <a:spcPct val="118000"/>
              </a:lnSpc>
              <a:defRPr sz="1450" b="0" i="0">
                <a:solidFill>
                  <a:srgbClr val="0F172A"/>
                </a:solidFill>
                <a:latin typeface="Helvetica Neue"/>
              </a:defRPr>
            </a:pPr>
            <a:r>
              <a:t>handles the microVMs.</a:t>
            </a:r>
          </a:p>
          <a:p>
            <a:pPr algn="l">
              <a:lnSpc>
                <a:spcPct val="118000"/>
              </a:lnSpc>
              <a:defRPr sz="1450" b="0" i="0">
                <a:solidFill>
                  <a:srgbClr val="0F172A"/>
                </a:solidFill>
                <a:latin typeface="Helvetica Neue"/>
              </a:defRPr>
            </a:pPr>
          </a:p>
          <a:p>
            <a:pPr algn="l">
              <a:lnSpc>
                <a:spcPct val="118000"/>
              </a:lnSpc>
              <a:defRPr sz="1450" b="0" i="0">
                <a:solidFill>
                  <a:srgbClr val="0F172A"/>
                </a:solidFill>
                <a:latin typeface="Helvetica Neue"/>
              </a:defRPr>
            </a:pPr>
            <a:r>
              <a:t>MODEL_ID = an env var</a:t>
            </a:r>
          </a:p>
          <a:p>
            <a:pPr algn="l">
              <a:lnSpc>
                <a:spcPct val="118000"/>
              </a:lnSpc>
              <a:defRPr sz="1450" b="0" i="0">
                <a:solidFill>
                  <a:srgbClr val="0F172A"/>
                </a:solidFill>
                <a:latin typeface="Helvetica Neue"/>
              </a:defRPr>
            </a:pPr>
            <a:r>
              <a:t>from agentcore.json.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2107692" cy="31089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UNDER THE HOOD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The trace teaches the agent loop without reading source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059669"/>
              </a:gs>
              <a:gs pos="100000">
                <a:srgbClr val="75C5AC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6-span-t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3240" y="1920240"/>
            <a:ext cx="6400800" cy="44272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defRPr sz="1300" b="1" i="0">
                <a:solidFill>
                  <a:srgbClr val="BE123C"/>
                </a:solidFill>
                <a:latin typeface="Helvetica Neue"/>
              </a:defRPr>
            </a:pPr>
            <a:r>
              <a:t>Caveats: spans need ~10 min to query · local dev records no tool span - assert against the deployment.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WHAT BROKE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Four failures worth passing 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E11D48"/>
              </a:gs>
              <a:gs pos="100000">
                <a:srgbClr val="EE829A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011680"/>
            <a:ext cx="5440680" cy="187451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2011680"/>
            <a:ext cx="82296" cy="1874519"/>
          </a:xfrm>
          <a:prstGeom prst="roundRect">
            <a:avLst>
              <a:gd name="adj" fmla="val 50000"/>
            </a:avLst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212848"/>
            <a:ext cx="48463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550" b="1" i="0">
                <a:solidFill>
                  <a:srgbClr val="0F172A"/>
                </a:solidFill>
                <a:latin typeface="Helvetica Neue"/>
              </a:defRPr>
            </a:pPr>
            <a:r>
              <a:t>Stale cdk.out fails the next deploy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788920"/>
            <a:ext cx="4892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defRPr sz="1250" b="0" i="0">
                <a:solidFill>
                  <a:srgbClr val="475569"/>
                </a:solidFill>
                <a:latin typeface="Helvetica Neue"/>
              </a:defRPr>
            </a:pPr>
            <a:r>
              <a:t>CLI deletes it before synth; leftover state kills synth. rm -rf agentcore/cdk/cdk.out fixes it.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2011680"/>
            <a:ext cx="5440680" cy="187451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72200" y="2011680"/>
            <a:ext cx="82296" cy="1874519"/>
          </a:xfrm>
          <a:prstGeom prst="roundRect">
            <a:avLst>
              <a:gd name="adj" fmla="val 50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2212848"/>
            <a:ext cx="48463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550" b="1" i="0">
                <a:solidFill>
                  <a:srgbClr val="0F172A"/>
                </a:solidFill>
                <a:latin typeface="Helvetica Neue"/>
              </a:defRPr>
            </a:pPr>
            <a:r>
              <a:t>Renaming is destroying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788920"/>
            <a:ext cx="4892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defRPr sz="1250" b="0" i="0">
                <a:solidFill>
                  <a:srgbClr val="475569"/>
                </a:solidFill>
                <a:latin typeface="Helvetica Neue"/>
              </a:defRPr>
            </a:pPr>
            <a:r>
              <a:t>name → CloudFormation logical ID. Rename = delete old runtime + create new.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114800"/>
            <a:ext cx="5440680" cy="187451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48640" y="4114800"/>
            <a:ext cx="82296" cy="1874519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315968"/>
            <a:ext cx="48463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550" b="1" i="0">
                <a:solidFill>
                  <a:srgbClr val="0F172A"/>
                </a:solidFill>
                <a:latin typeface="Helvetica Neue"/>
              </a:defRPr>
            </a:pPr>
            <a:r>
              <a:t>Models leak scaffolding into text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892040"/>
            <a:ext cx="4892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defRPr sz="1250" b="0" i="0">
                <a:solidFill>
                  <a:srgbClr val="475569"/>
                </a:solidFill>
                <a:latin typeface="Helvetica Neue"/>
              </a:defRPr>
            </a:pPr>
            <a:r>
              <a:t>DSML markers, &lt;thinking&gt; blocks. Verified with Strands removed. Stream-safe filter at the entrypoint.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4114800"/>
            <a:ext cx="5440680" cy="187451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72200" y="4114800"/>
            <a:ext cx="82296" cy="1874519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4315968"/>
            <a:ext cx="48463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550" b="1" i="0">
                <a:solidFill>
                  <a:srgbClr val="0F172A"/>
                </a:solidFill>
                <a:latin typeface="Helvetica Neue"/>
              </a:defRPr>
            </a:pPr>
            <a:r>
              <a:t>Region is not a flag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4892040"/>
            <a:ext cx="4892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defRPr sz="1250" b="0" i="0">
                <a:solidFill>
                  <a:srgbClr val="475569"/>
                </a:solidFill>
                <a:latin typeface="Helvetica Neue"/>
              </a:defRPr>
            </a:pPr>
            <a:r>
              <a:t>--region → unknown option. The targets file decides; it fills itself in on first deploy.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1056132" cy="31089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Four takeaways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7C3AED"/>
              </a:gs>
              <a:gs pos="100000">
                <a:srgbClr val="B692F5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85800" y="1965960"/>
            <a:ext cx="566928" cy="566928"/>
          </a:xfrm>
          <a:prstGeom prst="ellipse">
            <a:avLst/>
          </a:prstGeom>
          <a:gradFill rotWithShape="1">
            <a:gsLst>
              <a:gs pos="0">
                <a:srgbClr val="7C3AED"/>
              </a:gs>
              <a:gs pos="100000">
                <a:srgbClr val="7C3AED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  <a:latin typeface="Helvetica Neue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8760" y="1947672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900" b="1" i="0">
                <a:solidFill>
                  <a:srgbClr val="0F172A"/>
                </a:solidFill>
                <a:latin typeface="Helvetica Neue"/>
              </a:defRPr>
            </a:pPr>
            <a:r>
              <a:t>The JSON file is the interface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2368296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00" b="0" i="0">
                <a:solidFill>
                  <a:srgbClr val="475569"/>
                </a:solidFill>
                <a:latin typeface="Helvetica Neue"/>
              </a:defRPr>
            </a:pPr>
            <a:r>
              <a:t>everything else is regenerable plumbing driven by it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2898648"/>
            <a:ext cx="566928" cy="566928"/>
          </a:xfrm>
          <a:prstGeom prst="ellipse">
            <a:avLst/>
          </a:prstGeom>
          <a:gradFill rotWithShape="1">
            <a:gsLst>
              <a:gs pos="0">
                <a:srgbClr val="2563EB"/>
              </a:gs>
              <a:gs pos="100000">
                <a:srgbClr val="2563EB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  <a:latin typeface="Helvetica Neue"/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2880360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900" b="1" i="0">
                <a:solidFill>
                  <a:srgbClr val="0F172A"/>
                </a:solidFill>
                <a:latin typeface="Helvetica Neue"/>
              </a:defRPr>
            </a:pPr>
            <a:r>
              <a:t>CDK appears as a vendored compiler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3300984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00" b="0" i="0">
                <a:solidFill>
                  <a:srgbClr val="475569"/>
                </a:solidFill>
                <a:latin typeface="Helvetica Neue"/>
              </a:defRPr>
            </a:pPr>
            <a:r>
              <a:t>you never write constructs; same code, different JSON, different stack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3831335"/>
            <a:ext cx="566928" cy="566928"/>
          </a:xfrm>
          <a:prstGeom prst="ellipse">
            <a:avLst/>
          </a:prstGeom>
          <a:gradFill rotWithShape="1">
            <a:gsLst>
              <a:gs pos="0">
                <a:srgbClr val="0D9488"/>
              </a:gs>
              <a:gs pos="100000">
                <a:srgbClr val="0D9488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  <a:latin typeface="Helvetica Neue"/>
              </a:defRPr>
            </a:pPr>
            <a: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813048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900" b="1" i="0">
                <a:solidFill>
                  <a:srgbClr val="0F172A"/>
                </a:solidFill>
                <a:latin typeface="Helvetica Neue"/>
              </a:defRPr>
            </a:pPr>
            <a:r>
              <a:t>Local and deployed share one HTTP contract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4233672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00" b="0" i="0">
                <a:solidFill>
                  <a:srgbClr val="475569"/>
                </a:solidFill>
                <a:latin typeface="Helvetica Neue"/>
              </a:defRPr>
            </a:pPr>
            <a:r>
              <a:t>code that passed locally deploys without a shim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4764023"/>
            <a:ext cx="566928" cy="566928"/>
          </a:xfrm>
          <a:prstGeom prst="ellipse">
            <a:avLst/>
          </a:prstGeom>
          <a:gradFill rotWithShape="1">
            <a:gsLst>
              <a:gs pos="0">
                <a:srgbClr val="059669"/>
              </a:gs>
              <a:gs pos="100000">
                <a:srgbClr val="059669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  <a:latin typeface="Helvetica Neue"/>
              </a:defRPr>
            </a:pPr>
            <a: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4745736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900" b="1" i="0">
                <a:solidFill>
                  <a:srgbClr val="0F172A"/>
                </a:solidFill>
                <a:latin typeface="Helvetica Neue"/>
              </a:defRPr>
            </a:pPr>
            <a:r>
              <a:t>Observability is real but asynchronous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5166359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00" b="0" i="0">
                <a:solidFill>
                  <a:srgbClr val="475569"/>
                </a:solidFill>
                <a:latin typeface="Helvetica Neue"/>
              </a:defRPr>
            </a:pPr>
            <a:r>
              <a:t>the tool call gets its own span; give tests minutes, not seconds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508760" y="5715000"/>
            <a:ext cx="9692640" cy="59436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783080" y="5815584"/>
            <a:ext cx="9144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600" b="1" i="1">
                <a:solidFill>
                  <a:srgbClr val="6D28D9"/>
                </a:solidFill>
                <a:latin typeface="Helvetica Neue"/>
              </a:defRPr>
            </a:pPr>
            <a:r>
              <a:t>Your infrastructure is not code you maintain. It is code that compiles.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THE SERIES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Next: 7 use cases, rising difficulty, one pattern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EA580C"/>
              </a:gs>
              <a:gs pos="100000">
                <a:srgbClr val="F3A379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7-series-road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3240" y="1874519"/>
            <a:ext cx="6400800" cy="404939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989320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defRPr sz="1300" b="0" i="0">
                <a:solidFill>
                  <a:srgbClr val="64748B"/>
                </a:solidFill>
                <a:latin typeface="Helvetica Neue"/>
              </a:defRPr>
            </a:pPr>
            <a:r>
              <a:t>Each use case deploys standalone. Same pattern: real deployment, measured outputs, honest failures.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F172A"/>
            </a:gs>
            <a:gs pos="100000">
              <a:srgbClr val="1E3A8A"/>
            </a:gs>
          </a:gsLst>
          <a:lin scaled="0" ang="147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gradFill rotWithShape="1">
            <a:gsLst>
              <a:gs pos="0">
                <a:srgbClr val="2563EB"/>
              </a:gs>
              <a:gs pos="100000">
                <a:srgbClr val="7C3AE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48840"/>
            <a:ext cx="105156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defRPr sz="3400" b="1" i="0">
                <a:solidFill>
                  <a:srgbClr val="FFFFFF"/>
                </a:solidFill>
                <a:latin typeface="Helvetica Neue"/>
              </a:defRPr>
            </a:pPr>
            <a:r>
              <a:t>Your infrastructure is not code</a:t>
            </a:r>
          </a:p>
          <a:p>
            <a:pPr algn="l">
              <a:lnSpc>
                <a:spcPct val="105000"/>
              </a:lnSpc>
              <a:defRPr sz="3400" b="1" i="0">
                <a:solidFill>
                  <a:srgbClr val="FFFFFF"/>
                </a:solidFill>
                <a:latin typeface="Helvetica Neue"/>
              </a:defRPr>
            </a:pPr>
            <a:r>
              <a:t>you maintain. It is code that compiles.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4160520"/>
            <a:ext cx="1554480" cy="82296"/>
          </a:xfrm>
          <a:prstGeom prst="rect">
            <a:avLst/>
          </a:prstGeom>
          <a:gradFill rotWithShape="1">
            <a:gsLst>
              <a:gs pos="0">
                <a:srgbClr val="FF9900"/>
              </a:gs>
              <a:gs pos="100000">
                <a:srgbClr val="EA580C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45262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700" b="1" i="0">
                <a:solidFill>
                  <a:srgbClr val="93C5FD"/>
                </a:solidFill>
                <a:latin typeface="Helvetica Neue"/>
              </a:defRPr>
            </a:pPr>
            <a:r>
              <a:t>Next article: Your First Bedrock AgentCore Agent (A1)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16636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400" b="0" i="0">
                <a:solidFill>
                  <a:srgbClr val="94A3B8"/>
                </a:solidFill>
                <a:latin typeface="Helvetica Neue"/>
              </a:defRPr>
            </a:pPr>
            <a:r>
              <a:t>AgentCore Series · Article 0 of 8 · xiongpin.dev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